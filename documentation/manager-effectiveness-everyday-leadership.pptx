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525a7e41f64bea" /><Relationship Type="http://schemas.openxmlformats.org/officeDocument/2006/relationships/extended-properties" Target="/docProps/app.xml" Id="Ra1246a81ca4547ca" /><Relationship Type="http://schemas.openxmlformats.org/officeDocument/2006/relationships/officeDocument" Target="/ppt/presentation.xml" Id="Re6d308f8e9a14f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e278b4e3984392"/>
  </p:sldMasterIdLst>
  <p:notesMasterIdLst>
    <p:notesMasterId xmlns:r="http://schemas.openxmlformats.org/officeDocument/2006/relationships" r:id="R022fa9255a994d75"/>
  </p:notesMasterIdLst>
  <p:sldIdLst>
    <p:sldId xmlns:r="http://schemas.openxmlformats.org/officeDocument/2006/relationships" id="256" r:id="R6ebf341eca024cd5"/>
    <p:sldId xmlns:r="http://schemas.openxmlformats.org/officeDocument/2006/relationships" id="257" r:id="Rfcd418d9dff64c11"/>
    <p:sldId xmlns:r="http://schemas.openxmlformats.org/officeDocument/2006/relationships" id="258" r:id="R8b6d1914469a4b4c"/>
    <p:sldId xmlns:r="http://schemas.openxmlformats.org/officeDocument/2006/relationships" id="259" r:id="R065f66801a974b3b"/>
    <p:sldId xmlns:r="http://schemas.openxmlformats.org/officeDocument/2006/relationships" id="260" r:id="R553f124c505b433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e278b4e3984392" /><Relationship Type="http://schemas.openxmlformats.org/officeDocument/2006/relationships/theme" Target="/ppt/theme/theme1.xml" Id="R3495aefff3b448ca" /><Relationship Type="http://schemas.openxmlformats.org/officeDocument/2006/relationships/notesMaster" Target="/ppt/notesMasters/notesMaster1.xml" Id="R022fa9255a994d75" /><Relationship Type="http://schemas.openxmlformats.org/officeDocument/2006/relationships/presProps" Target="/ppt/presProps.xml" Id="Rb662ce637eea48d7" /><Relationship Type="http://schemas.openxmlformats.org/officeDocument/2006/relationships/viewProps" Target="/ppt/viewProps.xml" Id="R16e7851c4f754842" /><Relationship Type="http://schemas.openxmlformats.org/officeDocument/2006/relationships/tableStyles" Target="/ppt/tableStyles.xml" Id="Rfe8483b7d39c468e" /><Relationship Type="http://schemas.openxmlformats.org/officeDocument/2006/relationships/slide" Target="/ppt/slides/slide1.xml" Id="R6ebf341eca024cd5" /><Relationship Type="http://schemas.openxmlformats.org/officeDocument/2006/relationships/slide" Target="/ppt/slides/slide2.xml" Id="Rfcd418d9dff64c11" /><Relationship Type="http://schemas.openxmlformats.org/officeDocument/2006/relationships/slide" Target="/ppt/slides/slide3.xml" Id="R8b6d1914469a4b4c" /><Relationship Type="http://schemas.openxmlformats.org/officeDocument/2006/relationships/slide" Target="/ppt/slides/slide4.xml" Id="R065f66801a974b3b" /><Relationship Type="http://schemas.openxmlformats.org/officeDocument/2006/relationships/slide" Target="/ppt/slides/slide5.xml" Id="R553f124c505b43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e16487cf8b94b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85252d512e4a50" /><Relationship Type="http://schemas.openxmlformats.org/officeDocument/2006/relationships/notesMaster" Target="/ppt/notesMasters/notesMaster1.xml" Id="R8ad09d9328974b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8ffe1460af48c9" /><Relationship Type="http://schemas.openxmlformats.org/officeDocument/2006/relationships/notesMaster" Target="/ppt/notesMasters/notesMaster1.xml" Id="Re6d512e25d5d47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ffc4302c674747" /><Relationship Type="http://schemas.openxmlformats.org/officeDocument/2006/relationships/notesMaster" Target="/ppt/notesMasters/notesMaster1.xml" Id="R286a34ade96946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78b1c243f44cd7" /><Relationship Type="http://schemas.openxmlformats.org/officeDocument/2006/relationships/notesMaster" Target="/ppt/notesMasters/notesMaster1.xml" Id="R09691d5d7ac54c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d515d57efa4e6f" /><Relationship Type="http://schemas.openxmlformats.org/officeDocument/2006/relationships/notesMaster" Target="/ppt/notesMasters/notesMaster1.xml" Id="Rad381c370f5846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cc526c038e481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00dd1a38a2c4eb2" /><Relationship Type="http://schemas.openxmlformats.org/officeDocument/2006/relationships/slideLayout" Target="/ppt/slideLayouts/slideLayout2.xml" Id="R7f2a6f7dedad42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2a6f7dedad42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b09a72efbf492d" /><Relationship Type="http://schemas.openxmlformats.org/officeDocument/2006/relationships/notesSlide" Target="/ppt/notesSlides/notesSlide1.xml" Id="R283c2b5d3d8f4f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a8f9c8f0f44898" /><Relationship Type="http://schemas.openxmlformats.org/officeDocument/2006/relationships/notesSlide" Target="/ppt/notesSlides/notesSlide2.xml" Id="R64399a6683494a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27aa23c9da46ce" /><Relationship Type="http://schemas.openxmlformats.org/officeDocument/2006/relationships/notesSlide" Target="/ppt/notesSlides/notesSlide3.xml" Id="Rc447a58ecbf844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beb556da994433" /><Relationship Type="http://schemas.openxmlformats.org/officeDocument/2006/relationships/notesSlide" Target="/ppt/notesSlides/notesSlide4.xml" Id="Rc424016bb55541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a6d7d44df346f9" /><Relationship Type="http://schemas.openxmlformats.org/officeDocument/2006/relationships/notesSlide" Target="/ppt/notesSlides/notesSlide5.xml" Id="R84e7dd2ecb394c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AD01FD-03FA-4EE5-8564-BC43D379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CDC1A7-7115-4075-A86D-9D4E87FF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4267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4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CBE8F4-45D4-484D-8214-22BB7EBB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914400"/>
            <a:ext cx="2286000" cy="2286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14A85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3876D5-6524-4477-9D27-B1E6C726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76500"/>
            <a:ext cx="13716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B8E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774AB9-B5B6-4AA8-B259-081F4880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05250"/>
            <a:ext cx="27622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2C6E98-D2F2-4E79-9990-3ACB41A7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33850"/>
            <a:ext cx="106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Coach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BAFE69-5E19-4EAD-A115-A0F1FD4E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133850"/>
            <a:ext cx="1200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5EFF"/>
                </a:solidFill>
                <a:latin typeface="Aptos"/>
                <a:ea typeface="Aptos"/>
                <a:cs typeface="Aptos"/>
              </a:defRPr>
            </a:pPr>
            <a:r>
              <a:t>Feedback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612867-84C4-4549-B5B8-3518D92D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19600"/>
            <a:ext cx="1333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9B8E"/>
                </a:solidFill>
                <a:latin typeface="Aptos"/>
                <a:ea typeface="Aptos"/>
                <a:cs typeface="Aptos"/>
              </a:defRPr>
            </a:pPr>
            <a:r>
              <a:t>Enable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B7B9B4-F08F-40CA-8A62-3E083452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3B61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76171-FFB4-459D-B096-ED4C464F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676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BDAFE"/>
                </a:solidFill>
                <a:latin typeface="Aptos"/>
                <a:ea typeface="Aptos"/>
                <a:cs typeface="Aptos"/>
              </a:defRPr>
            </a:pPr>
            <a:r>
              <a:t>LEADERSHIP TASK FORCE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2FB816-0C29-4C46-8878-81C85D72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76275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Manager Effectiveness &amp; Everyday Leadership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87FA25-D07A-4076-BCA5-633A4728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38400"/>
            <a:ext cx="6191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2E1"/>
                </a:solidFill>
                <a:latin typeface="Aptos"/>
                <a:ea typeface="Aptos"/>
                <a:cs typeface="Aptos"/>
              </a:defRPr>
            </a:pPr>
            <a:r>
              <a:t>A five-part plan to institutionalize coaching, continuous feedback, manager enablement, and leader-led learning circles across Samsung India.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FB0384-6A5E-4A20-B151-65662E7A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9431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233655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9645B4-CB75-4D7D-A95B-042A55AF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76700"/>
            <a:ext cx="16002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9CC5FF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3F5B75-8EA0-4ADF-B695-42BA2CC3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16002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378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D7DEEA"/>
                </a:solidFill>
                <a:latin typeface="Aptos"/>
                <a:ea typeface="Aptos"/>
                <a:cs typeface="Aptos"/>
              </a:defRPr>
            </a:pPr>
            <a:r>
              <a:t>Shift managers from task owners to everyday coaches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BD5B6A-F8C4-4360-BFE2-54DC2EA5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905250"/>
            <a:ext cx="219075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233655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0ECBF2-6777-4A89-9DF8-7A69F33D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76700"/>
            <a:ext cx="1847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8BE0D6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F79027-B25C-4A9F-91C7-BC6EB317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495800"/>
            <a:ext cx="1847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2468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D7DEEA"/>
                </a:solidFill>
                <a:latin typeface="Aptos"/>
                <a:ea typeface="Aptos"/>
                <a:cs typeface="Aptos"/>
              </a:defRPr>
            </a:pPr>
            <a:r>
              <a:t>Make feedback continuous, specific, and psychologically safe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0CD537-E032-4CD2-B38E-A2FAD2AB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905250"/>
            <a:ext cx="219075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233655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2381CB-D365-4C20-AF1A-CE45201D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076700"/>
            <a:ext cx="1847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C767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91B713-B956-48AE-9FDC-EB384BB5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495800"/>
            <a:ext cx="1847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D7DEEA"/>
                </a:solidFill>
                <a:latin typeface="Aptos"/>
                <a:ea typeface="Aptos"/>
                <a:cs typeface="Aptos"/>
              </a:defRPr>
            </a:pPr>
            <a:r>
              <a:t>Strengthen first-time manager transition with LMD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16EA29-1C51-4413-B5EB-FB9FFA20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4000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91A0B8"/>
                </a:solidFill>
                <a:latin typeface="Aptos"/>
                <a:ea typeface="Aptos"/>
                <a:cs typeface="Aptos"/>
              </a:defRPr>
            </a:pPr>
            <a:r>
              <a:t>Draft initiative plan for internal discussion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EEA063-FF27-41C9-A33F-3AC69A48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6858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8D96A6"/>
                </a:solidFill>
                <a:latin typeface="Aptos"/>
                <a:ea typeface="Aptos"/>
                <a:cs typeface="Aptos"/>
              </a:defRPr>
            </a:pPr>
            <a:r>
              <a:t>Leadership Task Force | Manager Effectiveness and Everyday Leadership | Samsung India</a:t>
            </a:r>
          </a:p>
        </p:txBody>
      </p:sp>
    </p:spTree>
    <p:extLst>
      <p:ext uri="{BB962C8B-B14F-4D97-AF65-F5344CB8AC3E}">
        <p14:creationId xmlns:p14="http://schemas.microsoft.com/office/powerpoint/2010/main" val="9186906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FBFE6C-3A61-49E1-A62D-3E96B5D2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"/>
            <a:ext cx="76200" cy="24765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F5EF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962861-6151-4BC9-8FA3-16B169A1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F5EFF"/>
                </a:solidFill>
                <a:latin typeface="Aptos"/>
                <a:ea typeface="Aptos"/>
                <a:cs typeface="Aptos"/>
              </a:defRPr>
            </a:pPr>
            <a:r>
              <a:t>NORTH STAR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A95FBE-B682-4AA0-B4AC-17E30681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810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8A93A3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2E6080-15D9-4F8A-ABB6-615F1BE9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79057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Move leadership from episodic review to everyday practice.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0D6FE-B86F-4F1E-9957-4A27CAA1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52600"/>
            <a:ext cx="723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The program should make the expected manager behavior visible, repeatable, measurable, and supported by tools.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37FF45-C75B-473F-B80A-D0A44557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10477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D3DF77-D088-4F6F-B5BC-8B1B69C4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28950"/>
            <a:ext cx="2933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F5EFF"/>
                </a:solidFill>
                <a:latin typeface="Aptos"/>
                <a:ea typeface="Aptos"/>
                <a:cs typeface="Aptos"/>
              </a:defRPr>
            </a:pPr>
            <a:r>
              <a:t>Manager effectiveness flywheel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A44281-FF54-480F-8316-D8F6AB80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90850"/>
            <a:ext cx="9334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9FF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F2C05E-1147-438C-BBC5-FD209B86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76575"/>
            <a:ext cx="742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Role clarity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B1CE9D-F10F-41D5-8077-D7F2FD1E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276600"/>
            <a:ext cx="7810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7228"/>
          </a:bodyPr>
          <a:lstStyle xmlns:a="http://schemas.openxmlformats.org/drawingml/2006/main"/>
          <a:p xmlns:a="http://schemas.openxmlformats.org/drawingml/2006/main">
            <a:pPr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What good looks like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7F086D-B4A2-4D20-93A6-FA2F7576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228975"/>
            <a:ext cx="3048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AB6C8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AFAF9D-62E3-483A-996C-8582FEEA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990850"/>
            <a:ext cx="9334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5E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5FDFE-FA4D-4866-81F3-F102508F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076575"/>
            <a:ext cx="742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Coach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DAE9A7-C343-4F03-83D1-FB24247E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76600"/>
            <a:ext cx="7810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Ask, listen, guide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33D835-571D-4866-A326-5284585C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228975"/>
            <a:ext cx="3048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AB6C8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2F6FB-C1B6-4DA7-B8E9-0A244439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90850"/>
            <a:ext cx="9334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7E4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D98485-2231-424C-99D4-023A30D6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76575"/>
            <a:ext cx="742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Feedback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DF1A80-A3FB-4A4E-804D-95DE12BB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276600"/>
            <a:ext cx="7810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1650"/>
          </a:bodyPr>
          <a:lstStyle xmlns:a="http://schemas.openxmlformats.org/drawingml/2006/main"/>
          <a:p xmlns:a="http://schemas.openxmlformats.org/drawingml/2006/main">
            <a:pPr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Weekly growth signals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4ABB97-CA86-4B12-9B76-68B88394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228975"/>
            <a:ext cx="3048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AB6C8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DE91E0-542D-456D-9900-9607C820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90850"/>
            <a:ext cx="9334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7FF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C73C57-7B66-4B22-96F1-1EB35D95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76575"/>
            <a:ext cx="742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Enable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022417-5EA4-46BA-B5C3-7E257813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76600"/>
            <a:ext cx="7810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Toolkits and rituals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EF14DD-BEA3-48ED-922F-0F4BE4AC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228975"/>
            <a:ext cx="3048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AB6C8"/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64CA1B-8BD6-45C8-9D39-78AB21AD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90850"/>
            <a:ext cx="9334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CC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9D52F6-7B6F-4538-9DA6-46409A6C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076575"/>
            <a:ext cx="742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Learn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38E15B-8A88-4A29-B269-918A38F6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276600"/>
            <a:ext cx="7810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80806"/>
          </a:bodyPr>
          <a:lstStyle xmlns:a="http://schemas.openxmlformats.org/drawingml/2006/main"/>
          <a:p xmlns:a="http://schemas.openxmlformats.org/drawingml/2006/main">
            <a:pPr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Circles and walkthroughs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8A440B-1E21-4CF3-AC19-FEACB9EB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33147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384FBE-6511-4E35-87E6-E900226D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66675" cy="12573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F5EFF"/>
          </a:solidFill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E08FCB-630F-43C7-B523-CA7DCC64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2933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Everyday leadership standard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F9C5F8-14EF-4EC7-8035-63E902CF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29337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Define three non-negotiable behaviors: coaching questions in 1:1s, timely feedback after work moments, and visible support for learning.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7F05CC-299D-479B-B7B6-E56536F6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24350"/>
            <a:ext cx="33147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03CED4-7865-4185-93DE-8B2D3088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24350"/>
            <a:ext cx="66675" cy="12573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9B8E"/>
          </a:solidFill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641BB1-97D8-429B-AC88-90B63F1A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495800"/>
            <a:ext cx="2933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Employee experience promise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F32382-DB52-43EF-9AC7-A90D70F7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857750"/>
            <a:ext cx="29337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Employees receive useful guidance before the annual cycle: expectations, feedback, recognition, and help unblocking work.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DAF383-6368-4E99-BB80-B748F891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24350"/>
            <a:ext cx="33147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82B101-804B-41A9-AD62-A870CF86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24350"/>
            <a:ext cx="66675" cy="12573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5A623"/>
          </a:solidFill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2CF990A-9B05-40ED-ABE2-D651F609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495800"/>
            <a:ext cx="2933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Leadership accountability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1C4819-42B8-4894-9479-879AABA3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857750"/>
            <a:ext cx="29337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Leaders model the same habits through learning circles, walk-and-talks, skip-level listening, and quarterly pulse reviews.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E55246-4F98-4555-BA84-BF10D9E7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24550"/>
            <a:ext cx="8382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Outcome: a common operating system for how managers grow people while delivering business results.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B6FCF9-092A-4176-AC72-B5B35B13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6858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8D96A6"/>
                </a:solidFill>
                <a:latin typeface="Aptos"/>
                <a:ea typeface="Aptos"/>
                <a:cs typeface="Aptos"/>
              </a:defRPr>
            </a:pPr>
            <a:r>
              <a:t>Leadership Task Force | Manager Effectiveness and Everyday Leadership | Samsung India</a:t>
            </a:r>
          </a:p>
        </p:txBody>
      </p:sp>
    </p:spTree>
    <p:extLst>
      <p:ext uri="{BB962C8B-B14F-4D97-AF65-F5344CB8AC3E}">
        <p14:creationId xmlns:p14="http://schemas.microsoft.com/office/powerpoint/2010/main" val="16683511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9F0DD6-86B1-4345-B511-6C2F6789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"/>
            <a:ext cx="76200" cy="24765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F5EF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3D592-21E2-4C86-B91A-E6C088C0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F5EFF"/>
                </a:solidFill>
                <a:latin typeface="Aptos"/>
                <a:ea typeface="Aptos"/>
                <a:cs typeface="Aptos"/>
              </a:defRPr>
            </a:pPr>
            <a:r>
              <a:t>INITIATIVE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AA8E51-1EAE-47F6-A7C7-634052C2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810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8A93A3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265FDC-AB88-459F-B0DA-9CD5162F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79057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Four workstreams convert intent into manager routines.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FD587-BCC9-4E4D-BBBC-6DFE62AA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52600"/>
            <a:ext cx="723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Each workstream has a concrete artifact, operating rhythm, and owner group so the initiative is easier to scale.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620731-CCC0-4AEE-AE3D-A19D8E02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95550"/>
            <a:ext cx="5048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48EA5-0C64-4706-ADE5-C4B14FFD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95550"/>
            <a:ext cx="66675" cy="11430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F5E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511A5-B91F-4E0E-9526-B615DC8A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4667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1. Managers and leaders as coach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7D71A-47B3-402A-BD64-30D6DE3E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4667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Coach-the-coach labs, leader shadowing, coaching question banks, and monthly manager practice sessions.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A61640-B9AB-4428-AC9A-F240E112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5048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F396D-0A62-4AE1-A7F1-A23F659B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66675" cy="11430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9B8E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3C82AB-6B85-4F8B-A9FE-F3CC7747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667000"/>
            <a:ext cx="4667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2. Continuous feedback culture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1416E0-5E77-4022-A86D-B94CFEBC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667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Replace annual-only feedback with weekly/monthly check-ins, project debriefs, feedforward prompts, and recognition moments.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8D627F-2D9B-469C-8942-3375C76D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5048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F10AF9-784D-458D-9431-97A1076D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66675" cy="11430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5A623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3A0104-DB83-4CAC-9566-1DF89137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4667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3. Manager enablement toolkit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D1394B-251E-4A2A-BA0C-54DAD261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4667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Ready-to-use 1:1 templates, team charter canvas, difficult conversation guides, onboarding checklists, and pulse survey packs.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55A551-87BC-4FDE-B2FE-E2CD122A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76700"/>
            <a:ext cx="5048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5DE118-3607-484E-BC2E-8B71C10D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76700"/>
            <a:ext cx="66675" cy="11430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6F4ACB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C8052E-E1A3-4983-AEFD-D30ECFC9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48150"/>
            <a:ext cx="4667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4. Leader-led learning circles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41BC62-A2D7-40A5-A71D-2AD0E26E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10100"/>
            <a:ext cx="4667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Leaders facilitate small circles, walk-and-talks, case clinics, and peer learning to make leadership development local.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0BDFDF-910A-49F5-8769-B0ED2041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57850"/>
            <a:ext cx="11010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3FF"/>
          </a:solidFill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2431EA-F3B6-4C1C-9789-548EFF4D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00725"/>
            <a:ext cx="8763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Design principle: every theme should become a repeatable manager ritual, not a one-time workshop.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29433C-CAFB-4D45-9A0E-19D33E93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6858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8D96A6"/>
                </a:solidFill>
                <a:latin typeface="Aptos"/>
                <a:ea typeface="Aptos"/>
                <a:cs typeface="Aptos"/>
              </a:defRPr>
            </a:pPr>
            <a:r>
              <a:t>Leadership Task Force | Manager Effectiveness and Everyday Leadership | Samsung India</a:t>
            </a:r>
          </a:p>
        </p:txBody>
      </p:sp>
    </p:spTree>
    <p:extLst>
      <p:ext uri="{BB962C8B-B14F-4D97-AF65-F5344CB8AC3E}">
        <p14:creationId xmlns:p14="http://schemas.microsoft.com/office/powerpoint/2010/main" val="947944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15369E-7964-4B3D-8B13-35A16AA3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"/>
            <a:ext cx="76200" cy="24765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F5EF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C1BD25-A545-4417-8FBD-4384EA38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F5EFF"/>
                </a:solidFill>
                <a:latin typeface="Aptos"/>
                <a:ea typeface="Aptos"/>
                <a:cs typeface="Aptos"/>
              </a:defRPr>
            </a:pPr>
            <a:r>
              <a:t>OPERATING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71C1F8-1D02-42BD-830C-EE4C2AEB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810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8A93A3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858F55-C9A1-4A83-A63D-726EC709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79057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Build with LMD, pilot with managers, scale through leaders.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5A4D7D-FE06-4F8B-8603-05ECD3F6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52600"/>
            <a:ext cx="723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The task force should own direction and governance while LMD strengthens design, facilitation, and manager transition support.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15F518-E921-46DB-8671-94248C5F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CE9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66AA6B-05AB-43A3-A449-44FE2EB0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Task Force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4857B7-9B41-42C8-8498-9DD304AE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1981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t>Set charter, success metrics, leadership sponsorship, governance cadence.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904C6B-BF5E-4F3B-B0FE-0BFD0F59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2890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FF5EF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032888-901D-4622-9364-5DFE4435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3845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LMD Partner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B5F354-7638-4DD5-8AB8-A56D803E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62300"/>
            <a:ext cx="1981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t>Co-design manager curriculum, toolkits, learning circles, and first-time manager pathway.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C45B57-B427-4C00-BE18-EA7164F6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2890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0CC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2E2B1A-5927-4C94-827B-D8C32F9E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Business Leaders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4ACD1E-A9E9-4689-86FE-EFD64257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62300"/>
            <a:ext cx="1981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t>Model behaviors, sponsor learning circles, identify pilot teams, review adoption data.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3A1768-A5A8-4DE3-AC14-238E3E00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2890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E7FF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7D2A17-6521-412B-B0BB-F8749D42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3845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Managers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C0F3EA-AED9-4928-A91A-3399BD5F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62300"/>
            <a:ext cx="1981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t>Run rituals: 1:1s, feedback moments, team huddles, debriefs, and coaching conversations.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CA009F-869A-4917-8CE5-D9B66B3D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105537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5A3C75-0548-4F09-9EC9-E6054E2C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381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978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First-time manager transition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1494FC-F3AF-4F3B-8E9D-525E36F6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648200"/>
            <a:ext cx="66675" cy="66675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F5EFF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E9E6D4-B049-4532-B824-4197F645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572000"/>
            <a:ext cx="6686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t>Pre-role orientation: expectations, people responsibilities, key moments in the first 90 days.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DA4D1B-88E8-46E9-8D46-E4D1DE75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991100"/>
            <a:ext cx="66675" cy="66675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9B8E"/>
          </a:solidFill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FFCF30-07BE-42D2-80D6-71D82ADC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914900"/>
            <a:ext cx="6686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t>Buddy leader and LMD clinic: monthly case discussion, feedback practice, and escalation support.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A46F88-2ED3-4C3F-A2D1-DE11A571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38800"/>
            <a:ext cx="105537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72033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F67390-6E11-4B1D-81BA-B82E7EA6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81675"/>
            <a:ext cx="895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Governance cadence: monthly adoption review, quarterly employee pulse, semi-annual capability refresh.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020B18-18F7-47CE-B0C3-CE1E3DEA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6858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8D96A6"/>
                </a:solidFill>
                <a:latin typeface="Aptos"/>
                <a:ea typeface="Aptos"/>
                <a:cs typeface="Aptos"/>
              </a:defRPr>
            </a:pPr>
            <a:r>
              <a:t>Leadership Task Force | Manager Effectiveness and Everyday Leadership | Samsung India</a:t>
            </a:r>
          </a:p>
        </p:txBody>
      </p:sp>
    </p:spTree>
    <p:extLst>
      <p:ext uri="{BB962C8B-B14F-4D97-AF65-F5344CB8AC3E}">
        <p14:creationId xmlns:p14="http://schemas.microsoft.com/office/powerpoint/2010/main" val="6204012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B9584B-FD89-4F7A-BDBC-C0C0197E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"/>
            <a:ext cx="76200" cy="24765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F5EF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DB3DF0-B626-4B22-A1FB-D2F4531D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F5EFF"/>
                </a:solidFill>
                <a:latin typeface="Aptos"/>
                <a:ea typeface="Aptos"/>
                <a:cs typeface="Aptos"/>
              </a:defRPr>
            </a:pPr>
            <a:r>
              <a:t>90-DAY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0341B-1442-4F5F-BA16-BF09DA45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810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8A93A3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E324C8-3D15-47DF-992B-C8AF14B3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79057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Start small, prove behavior change, then institutionalize.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84F148-446D-4E7C-A462-6976A880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52600"/>
            <a:ext cx="723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t>A practical rollout should create visible wins without waiting for a full annual HR cycle.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733C5-F99B-4403-B770-C1FAECD6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3028950" cy="1962150"/>
          </a:xfrm>
          <a:prstGeom xmlns:a="http://schemas.openxmlformats.org/drawingml/2006/main" prst="roundRect">
            <a:avLst>
              <a:gd name="adj" fmla="val 4854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75941E-9C4D-4DFB-BD8F-F2E5FADB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3028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5E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CD6C4B-F0EF-42BD-A74A-29F42DA8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914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Days 0-30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160A75-6C56-4C84-8509-91D195FB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762250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A53599-5737-4C4A-9660-296974DF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2571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t>Finalize charter, manager behavior standard, pilot functions, and first toolkit pack.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73149-0D6F-4887-8CA7-4967479D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1000"/>
            <a:ext cx="2571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5EFF"/>
                </a:solidFill>
                <a:latin typeface="Aptos"/>
                <a:ea typeface="Aptos"/>
                <a:cs typeface="Aptos"/>
              </a:defRPr>
            </a:pPr>
            <a:r>
              <a:t>Artifact: charter + toolkit v1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FECC0C-C535-4071-AC60-B265FD81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47950"/>
            <a:ext cx="3028950" cy="1962150"/>
          </a:xfrm>
          <a:prstGeom xmlns:a="http://schemas.openxmlformats.org/drawingml/2006/main" prst="roundRect">
            <a:avLst>
              <a:gd name="adj" fmla="val 4854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5D85D0-7504-4C0D-BF6B-F98B3F2D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47950"/>
            <a:ext cx="3028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F9B8E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935BA-24EA-4C37-88E4-F364653A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81300"/>
            <a:ext cx="914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Days 31-60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13483-BAF8-4806-A518-C8A12DB5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762250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Pilot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4A510F-87BD-4C4D-B5D5-1BCE6E22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52800"/>
            <a:ext cx="2571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t>Run coaching labs, launch continuous feedback rituals, and host leader-led learning circles.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A11939-F520-40F5-B62B-30266620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91000"/>
            <a:ext cx="2571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9B8E"/>
                </a:solidFill>
                <a:latin typeface="Aptos"/>
                <a:ea typeface="Aptos"/>
                <a:cs typeface="Aptos"/>
              </a:defRPr>
            </a:pPr>
            <a:r>
              <a:t>Artifact: pilot evidence pack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DF8DA3-3BD3-4DA8-95E7-21F73767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47950"/>
            <a:ext cx="3028950" cy="1962150"/>
          </a:xfrm>
          <a:prstGeom xmlns:a="http://schemas.openxmlformats.org/drawingml/2006/main" prst="roundRect">
            <a:avLst>
              <a:gd name="adj" fmla="val 4854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4C0758-F517-41A3-8DB9-0E433F74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47950"/>
            <a:ext cx="3028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A623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D0B129-0CB1-42A9-B7FD-2F91EC00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914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Days 61-90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BFB650-DBFE-4C48-929C-6E53E9A1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762250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Scale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AC44B1-869D-405C-A3F8-FF531144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2571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t>Refine from pulse data, train champions, publish playbook, and align with performance cycle.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666356-16E1-46D7-8A1C-C83BF37C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91000"/>
            <a:ext cx="2571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76500"/>
                </a:solidFill>
                <a:latin typeface="Aptos"/>
                <a:ea typeface="Aptos"/>
                <a:cs typeface="Aptos"/>
              </a:defRPr>
            </a:pPr>
            <a:r>
              <a:t>Artifact: scale playbook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7A4B5D-258D-4298-AF7E-045D231E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48006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EEF3FF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8B42AF-2D5B-4C8B-ABC3-F907EF89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95900"/>
            <a:ext cx="1581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Success measures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DC9FE1-8BA0-4AAC-B4F3-011234B4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257800"/>
            <a:ext cx="2476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76923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t>Manager ritual adoption, employee feedback frequency, first-time manager confidence, and pulse movement on trust and clarity.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1B037D-F8E4-4E74-9F31-004C21AA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105400"/>
            <a:ext cx="48006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EDF8F6"/>
          </a:solidFill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255CAC-1434-4FFE-A1CE-0EEF1891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295900"/>
            <a:ext cx="1295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Decision ask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E79596-D918-43F3-B722-77EEDD83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57800"/>
            <a:ext cx="2686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78142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t>Approve pilot scope, nominate leader sponsors, and authorize LMD collaboration for curriculum and toolkit build-out.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08BC97-529E-4743-9B75-F2C19584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6858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8D96A6"/>
                </a:solidFill>
                <a:latin typeface="Aptos"/>
                <a:ea typeface="Aptos"/>
                <a:cs typeface="Aptos"/>
              </a:defRPr>
            </a:pPr>
            <a:r>
              <a:t>Leadership Task Force | Manager Effectiveness and Everyday Leadership | Samsung India</a:t>
            </a:r>
          </a:p>
        </p:txBody>
      </p:sp>
    </p:spTree>
    <p:extLst>
      <p:ext uri="{BB962C8B-B14F-4D97-AF65-F5344CB8AC3E}">
        <p14:creationId xmlns:p14="http://schemas.microsoft.com/office/powerpoint/2010/main" val="4657035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2026-05-21T08:52:03.3030000Z</dcterms:created>
  <dcterms:modified xsi:type="dcterms:W3CDTF">2026-05-21T08:52:03.3040000Z</dcterms:modified>
</coreProperties>
</file>