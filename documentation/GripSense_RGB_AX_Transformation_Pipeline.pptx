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0b77727d9c149d3" /><Relationship Type="http://schemas.openxmlformats.org/officeDocument/2006/relationships/extended-properties" Target="/docProps/app.xml" Id="R4e6d6478a46949de" /><Relationship Type="http://schemas.openxmlformats.org/officeDocument/2006/relationships/officeDocument" Target="/ppt/presentation.xml" Id="Rcf5b9328c3c742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1a604e5c54062"/>
  </p:sldMasterIdLst>
  <p:notesMasterIdLst>
    <p:notesMasterId xmlns:r="http://schemas.openxmlformats.org/officeDocument/2006/relationships" r:id="Rd49b60addd8d47b9"/>
  </p:notesMasterIdLst>
  <p:sldIdLst>
    <p:sldId xmlns:r="http://schemas.openxmlformats.org/officeDocument/2006/relationships" id="256" r:id="R1a5804ec081f40b6"/>
    <p:sldId xmlns:r="http://schemas.openxmlformats.org/officeDocument/2006/relationships" id="257" r:id="R6aed610aa6ea42e1"/>
    <p:sldId xmlns:r="http://schemas.openxmlformats.org/officeDocument/2006/relationships" id="258" r:id="R200eb0fad6914597"/>
    <p:sldId xmlns:r="http://schemas.openxmlformats.org/officeDocument/2006/relationships" id="259" r:id="Rac4c688480aa46b4"/>
    <p:sldId xmlns:r="http://schemas.openxmlformats.org/officeDocument/2006/relationships" id="260" r:id="R4c6ef263a1f74e0a"/>
    <p:sldId xmlns:r="http://schemas.openxmlformats.org/officeDocument/2006/relationships" id="261" r:id="R16a0bd885e684903"/>
    <p:sldId xmlns:r="http://schemas.openxmlformats.org/officeDocument/2006/relationships" id="262" r:id="R08de259408ef4d05"/>
    <p:sldId xmlns:r="http://schemas.openxmlformats.org/officeDocument/2006/relationships" id="263" r:id="R9998b25ea1c84851"/>
    <p:sldId xmlns:r="http://schemas.openxmlformats.org/officeDocument/2006/relationships" id="264" r:id="Ra8d8a431001c4ac4"/>
    <p:sldId xmlns:r="http://schemas.openxmlformats.org/officeDocument/2006/relationships" id="265" r:id="R19c5af0901ce4731"/>
    <p:sldId xmlns:r="http://schemas.openxmlformats.org/officeDocument/2006/relationships" id="266" r:id="Radc66f2b9dcf4869"/>
    <p:sldId xmlns:r="http://schemas.openxmlformats.org/officeDocument/2006/relationships" id="267" r:id="R08b7123252f441e8"/>
    <p:sldId xmlns:r="http://schemas.openxmlformats.org/officeDocument/2006/relationships" id="268" r:id="R31fe3ca255554011"/>
    <p:sldId xmlns:r="http://schemas.openxmlformats.org/officeDocument/2006/relationships" id="269" r:id="R35cb93804e2c473f"/>
    <p:sldId xmlns:r="http://schemas.openxmlformats.org/officeDocument/2006/relationships" id="270" r:id="Rb8e9f87ac4d04bad"/>
    <p:sldId xmlns:r="http://schemas.openxmlformats.org/officeDocument/2006/relationships" id="271" r:id="R747a014de7d341a1"/>
    <p:sldId xmlns:r="http://schemas.openxmlformats.org/officeDocument/2006/relationships" id="272" r:id="R78796283de6d425c"/>
    <p:sldId xmlns:r="http://schemas.openxmlformats.org/officeDocument/2006/relationships" id="273" r:id="Rc7d0b51c53114c11"/>
    <p:sldId xmlns:r="http://schemas.openxmlformats.org/officeDocument/2006/relationships" id="274" r:id="R45d206dbf598453e"/>
    <p:sldId xmlns:r="http://schemas.openxmlformats.org/officeDocument/2006/relationships" id="275" r:id="R4fbf4dde55894908"/>
    <p:sldId xmlns:r="http://schemas.openxmlformats.org/officeDocument/2006/relationships" id="276" r:id="Rfa09e4f0e931413c"/>
    <p:sldId xmlns:r="http://schemas.openxmlformats.org/officeDocument/2006/relationships" id="277" r:id="R4d39cd42b1cb439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ab3a328e9f4d71" /><Relationship Type="http://schemas.openxmlformats.org/officeDocument/2006/relationships/slideMaster" Target="/ppt/slideMasters/slideMaster1.xml" Id="Rb231a604e5c54062" /><Relationship Type="http://schemas.openxmlformats.org/officeDocument/2006/relationships/notesMaster" Target="/ppt/notesMasters/notesMaster1.xml" Id="Rd49b60addd8d47b9" /><Relationship Type="http://schemas.openxmlformats.org/officeDocument/2006/relationships/presProps" Target="/ppt/presProps.xml" Id="R7fded7f933d14105" /><Relationship Type="http://schemas.openxmlformats.org/officeDocument/2006/relationships/viewProps" Target="/ppt/viewProps.xml" Id="R856cce93b22c4b68" /><Relationship Type="http://schemas.openxmlformats.org/officeDocument/2006/relationships/tableStyles" Target="/ppt/tableStyles.xml" Id="Rd1e68fd7054743a9" /><Relationship Type="http://schemas.openxmlformats.org/officeDocument/2006/relationships/slide" Target="/ppt/slides/slide1.xml" Id="R1a5804ec081f40b6" /><Relationship Type="http://schemas.openxmlformats.org/officeDocument/2006/relationships/slide" Target="/ppt/slides/slide2.xml" Id="R6aed610aa6ea42e1" /><Relationship Type="http://schemas.openxmlformats.org/officeDocument/2006/relationships/slide" Target="/ppt/slides/slide3.xml" Id="R200eb0fad6914597" /><Relationship Type="http://schemas.openxmlformats.org/officeDocument/2006/relationships/slide" Target="/ppt/slides/slide4.xml" Id="Rac4c688480aa46b4" /><Relationship Type="http://schemas.openxmlformats.org/officeDocument/2006/relationships/slide" Target="/ppt/slides/slide5.xml" Id="R4c6ef263a1f74e0a" /><Relationship Type="http://schemas.openxmlformats.org/officeDocument/2006/relationships/slide" Target="/ppt/slides/slide6.xml" Id="R16a0bd885e684903" /><Relationship Type="http://schemas.openxmlformats.org/officeDocument/2006/relationships/slide" Target="/ppt/slides/slide7.xml" Id="R08de259408ef4d05" /><Relationship Type="http://schemas.openxmlformats.org/officeDocument/2006/relationships/slide" Target="/ppt/slides/slide8.xml" Id="R9998b25ea1c84851" /><Relationship Type="http://schemas.openxmlformats.org/officeDocument/2006/relationships/slide" Target="/ppt/slides/slide9.xml" Id="Ra8d8a431001c4ac4" /><Relationship Type="http://schemas.openxmlformats.org/officeDocument/2006/relationships/slide" Target="/ppt/slides/slide10.xml" Id="R19c5af0901ce4731" /><Relationship Type="http://schemas.openxmlformats.org/officeDocument/2006/relationships/slide" Target="/ppt/slides/slide11.xml" Id="Radc66f2b9dcf4869" /><Relationship Type="http://schemas.openxmlformats.org/officeDocument/2006/relationships/slide" Target="/ppt/slides/slide12.xml" Id="R08b7123252f441e8" /><Relationship Type="http://schemas.openxmlformats.org/officeDocument/2006/relationships/slide" Target="/ppt/slides/slide13.xml" Id="R31fe3ca255554011" /><Relationship Type="http://schemas.openxmlformats.org/officeDocument/2006/relationships/slide" Target="/ppt/slides/slide14.xml" Id="R35cb93804e2c473f" /><Relationship Type="http://schemas.openxmlformats.org/officeDocument/2006/relationships/slide" Target="/ppt/slides/slide15.xml" Id="Rb8e9f87ac4d04bad" /><Relationship Type="http://schemas.openxmlformats.org/officeDocument/2006/relationships/slide" Target="/ppt/slides/slide16.xml" Id="R747a014de7d341a1" /><Relationship Type="http://schemas.openxmlformats.org/officeDocument/2006/relationships/slide" Target="/ppt/slides/slide17.xml" Id="R78796283de6d425c" /><Relationship Type="http://schemas.openxmlformats.org/officeDocument/2006/relationships/slide" Target="/ppt/slides/slide18.xml" Id="Rc7d0b51c53114c11" /><Relationship Type="http://schemas.openxmlformats.org/officeDocument/2006/relationships/slide" Target="/ppt/slides/slide19.xml" Id="R45d206dbf598453e" /><Relationship Type="http://schemas.openxmlformats.org/officeDocument/2006/relationships/slide" Target="/ppt/slides/slide20.xml" Id="R4fbf4dde55894908" /><Relationship Type="http://schemas.openxmlformats.org/officeDocument/2006/relationships/slide" Target="/ppt/slides/slide21.xml" Id="Rfa09e4f0e931413c" /><Relationship Type="http://schemas.openxmlformats.org/officeDocument/2006/relationships/slide" Target="/ppt/slides/slide22.xml" Id="R4d39cd42b1cb43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5dcc5c6cdd49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04132719914dd3" /><Relationship Type="http://schemas.openxmlformats.org/officeDocument/2006/relationships/notesMaster" Target="/ppt/notesMasters/notesMaster1.xml" Id="Rc1c79e35c40746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e5e5b36492472e" /><Relationship Type="http://schemas.openxmlformats.org/officeDocument/2006/relationships/notesMaster" Target="/ppt/notesMasters/notesMaster1.xml" Id="Rf99aa13439fc429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7573a0413b402d" /><Relationship Type="http://schemas.openxmlformats.org/officeDocument/2006/relationships/notesMaster" Target="/ppt/notesMasters/notesMaster1.xml" Id="R92c24cff0e3448c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9cb99606b142d7" /><Relationship Type="http://schemas.openxmlformats.org/officeDocument/2006/relationships/notesMaster" Target="/ppt/notesMasters/notesMaster1.xml" Id="Ra496143c1a7f49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f12c1cadec4042" /><Relationship Type="http://schemas.openxmlformats.org/officeDocument/2006/relationships/notesMaster" Target="/ppt/notesMasters/notesMaster1.xml" Id="R91e32d67afdb4b3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bc0e04cd5a74fd2" /><Relationship Type="http://schemas.openxmlformats.org/officeDocument/2006/relationships/notesMaster" Target="/ppt/notesMasters/notesMaster1.xml" Id="R3fce9ab7b76a46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d374d1af3748da" /><Relationship Type="http://schemas.openxmlformats.org/officeDocument/2006/relationships/notesMaster" Target="/ppt/notesMasters/notesMaster1.xml" Id="Rd1d3dc7dbaa244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c0b2870f9e4dda" /><Relationship Type="http://schemas.openxmlformats.org/officeDocument/2006/relationships/notesMaster" Target="/ppt/notesMasters/notesMaster1.xml" Id="R8889eb88d6d44cb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4535b96b1e8456a" /><Relationship Type="http://schemas.openxmlformats.org/officeDocument/2006/relationships/notesMaster" Target="/ppt/notesMasters/notesMaster1.xml" Id="Ra86c636a44d74e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a870aeceb94530" /><Relationship Type="http://schemas.openxmlformats.org/officeDocument/2006/relationships/notesMaster" Target="/ppt/notesMasters/notesMaster1.xml" Id="R62885c0fd33041b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97f1fd83d0e458c" /><Relationship Type="http://schemas.openxmlformats.org/officeDocument/2006/relationships/notesMaster" Target="/ppt/notesMasters/notesMaster1.xml" Id="R5903c41464a7457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77aef7113284a63" /><Relationship Type="http://schemas.openxmlformats.org/officeDocument/2006/relationships/notesMaster" Target="/ppt/notesMasters/notesMaster1.xml" Id="R5aa0cb41af434c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42ee528cd34e51" /><Relationship Type="http://schemas.openxmlformats.org/officeDocument/2006/relationships/notesMaster" Target="/ppt/notesMasters/notesMaster1.xml" Id="Rd1a35e4815704b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5013e1c00ca4209" /><Relationship Type="http://schemas.openxmlformats.org/officeDocument/2006/relationships/notesMaster" Target="/ppt/notesMasters/notesMaster1.xml" Id="R23fd0eb512814a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9df1ac7566043ba" /><Relationship Type="http://schemas.openxmlformats.org/officeDocument/2006/relationships/notesMaster" Target="/ppt/notesMasters/notesMaster1.xml" Id="R23f364421ec342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68ffb01053c431c" /><Relationship Type="http://schemas.openxmlformats.org/officeDocument/2006/relationships/notesMaster" Target="/ppt/notesMasters/notesMaster1.xml" Id="R10403f0e3a31446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664148e8d184266" /><Relationship Type="http://schemas.openxmlformats.org/officeDocument/2006/relationships/notesMaster" Target="/ppt/notesMasters/notesMaster1.xml" Id="Reacf691c0d1342f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73475bf5a7d4cf0" /><Relationship Type="http://schemas.openxmlformats.org/officeDocument/2006/relationships/notesMaster" Target="/ppt/notesMasters/notesMaster1.xml" Id="R3e94e0c0817247a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3abb5287abb4333" /><Relationship Type="http://schemas.openxmlformats.org/officeDocument/2006/relationships/notesMaster" Target="/ppt/notesMasters/notesMaster1.xml" Id="R70e1ebf7ee5440e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e9905d8e91b49a1" /><Relationship Type="http://schemas.openxmlformats.org/officeDocument/2006/relationships/notesMaster" Target="/ppt/notesMasters/notesMaster1.xml" Id="R01197f2a45a74df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caac5b9ab1947fb" /><Relationship Type="http://schemas.openxmlformats.org/officeDocument/2006/relationships/notesMaster" Target="/ppt/notesMasters/notesMaster1.xml" Id="Radbdf6484c3d4ce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f91f0f4cbcd4d4c" /><Relationship Type="http://schemas.openxmlformats.org/officeDocument/2006/relationships/notesMaster" Target="/ppt/notesMasters/notesMaster1.xml" Id="R5a0309d8e5514c3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7c60040b440a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37c8072b2b47c2" /><Relationship Type="http://schemas.openxmlformats.org/officeDocument/2006/relationships/slideLayout" Target="/ppt/slideLayouts/slideLayout1.xml" Id="Re2972a73f7f64d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972a73f7f64d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dcecafe8a481b" /><Relationship Type="http://schemas.openxmlformats.org/officeDocument/2006/relationships/image" Target="/ppt/media/image.png" Id="R27214149f61c45f3" /><Relationship Type="http://schemas.openxmlformats.org/officeDocument/2006/relationships/notesSlide" Target="/ppt/notesSlides/notesSlide1.xml" Id="R0d51eab5d5ef4a8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8c64e9fe74db1" /><Relationship Type="http://schemas.openxmlformats.org/officeDocument/2006/relationships/notesSlide" Target="/ppt/notesSlides/notesSlide2.xml" Id="R3c6f79e776f64a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95fa2d63ad49f0" /><Relationship Type="http://schemas.openxmlformats.org/officeDocument/2006/relationships/notesSlide" Target="/ppt/notesSlides/notesSlide3.xml" Id="Rbe982ab3542248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ba7be6a1c48f4" /><Relationship Type="http://schemas.openxmlformats.org/officeDocument/2006/relationships/image" Target="/ppt/media/image2.png" Id="R34c2ed8de6284971" /><Relationship Type="http://schemas.openxmlformats.org/officeDocument/2006/relationships/notesSlide" Target="/ppt/notesSlides/notesSlide4.xml" Id="R77ddb1798c7e41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479723eab467b" /><Relationship Type="http://schemas.openxmlformats.org/officeDocument/2006/relationships/notesSlide" Target="/ppt/notesSlides/notesSlide5.xml" Id="R303fea97ae6b44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3971b12ab4ba3" /><Relationship Type="http://schemas.openxmlformats.org/officeDocument/2006/relationships/image" Target="/ppt/media/image3.png" Id="R6cc4040dde3e4df6" /><Relationship Type="http://schemas.openxmlformats.org/officeDocument/2006/relationships/notesSlide" Target="/ppt/notesSlides/notesSlide6.xml" Id="Rb8ea2053ba3949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042c06373d4c1f" /><Relationship Type="http://schemas.openxmlformats.org/officeDocument/2006/relationships/notesSlide" Target="/ppt/notesSlides/notesSlide7.xml" Id="R7e92ac67f03846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c53d4b229f4d59" /><Relationship Type="http://schemas.openxmlformats.org/officeDocument/2006/relationships/notesSlide" Target="/ppt/notesSlides/notesSlide8.xml" Id="R29de2a0e426d4d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c528cd674a4e5a" /><Relationship Type="http://schemas.openxmlformats.org/officeDocument/2006/relationships/notesSlide" Target="/ppt/notesSlides/notesSlide9.xml" Id="Rbf8fd2f488de40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4a4347d2e4763" /><Relationship Type="http://schemas.openxmlformats.org/officeDocument/2006/relationships/notesSlide" Target="/ppt/notesSlides/notesSlide10.xml" Id="R4b3ee17ca0634a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1b49adbe14e8b" /><Relationship Type="http://schemas.openxmlformats.org/officeDocument/2006/relationships/notesSlide" Target="/ppt/notesSlides/notesSlide11.xml" Id="Rd349408ee50945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43638e8254312" /><Relationship Type="http://schemas.openxmlformats.org/officeDocument/2006/relationships/image" Target="/ppt/media/image4.png" Id="R4aea279b33954eda" /><Relationship Type="http://schemas.openxmlformats.org/officeDocument/2006/relationships/image" Target="/ppt/media/image.svg" Id="R8631c4496dc646ae" /><Relationship Type="http://schemas.openxmlformats.org/officeDocument/2006/relationships/notesSlide" Target="/ppt/notesSlides/notesSlide12.xml" Id="R91685e86c099402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69192d7bd748f0" /><Relationship Type="http://schemas.openxmlformats.org/officeDocument/2006/relationships/image" Target="/ppt/media/image5.png" Id="R2f8ef3f2960a462c" /><Relationship Type="http://schemas.openxmlformats.org/officeDocument/2006/relationships/notesSlide" Target="/ppt/notesSlides/notesSlide13.xml" Id="R0ec71c17457544f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5575a29e614937" /><Relationship Type="http://schemas.openxmlformats.org/officeDocument/2006/relationships/image" Target="/ppt/media/image6.png" Id="R8f3aef1c24a14d68" /><Relationship Type="http://schemas.openxmlformats.org/officeDocument/2006/relationships/image" Target="/ppt/media/image2.svg" Id="R29ce3dde3c3449a8" /><Relationship Type="http://schemas.openxmlformats.org/officeDocument/2006/relationships/image" Target="/ppt/media/image7.png" Id="R702d77baeea842e7" /><Relationship Type="http://schemas.openxmlformats.org/officeDocument/2006/relationships/image" Target="/ppt/media/image3.svg" Id="R16caf55716154ecb" /><Relationship Type="http://schemas.openxmlformats.org/officeDocument/2006/relationships/image" Target="/ppt/media/image8.png" Id="Raf17b847fb184717" /><Relationship Type="http://schemas.openxmlformats.org/officeDocument/2006/relationships/image" Target="/ppt/media/image4.svg" Id="R020a2bede95a48dc" /><Relationship Type="http://schemas.openxmlformats.org/officeDocument/2006/relationships/image" Target="/ppt/media/image9.png" Id="R4ea085fec557428f" /><Relationship Type="http://schemas.openxmlformats.org/officeDocument/2006/relationships/image" Target="/ppt/media/image5.svg" Id="R64d64cb629fe48a2" /><Relationship Type="http://schemas.openxmlformats.org/officeDocument/2006/relationships/notesSlide" Target="/ppt/notesSlides/notesSlide14.xml" Id="R718c819bf23a498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44503071f0439d" /><Relationship Type="http://schemas.openxmlformats.org/officeDocument/2006/relationships/notesSlide" Target="/ppt/notesSlides/notesSlide15.xml" Id="R96b3b90d80db4b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cee3d256ef4ca6" /><Relationship Type="http://schemas.openxmlformats.org/officeDocument/2006/relationships/image" Target="/ppt/media/image10.png" Id="Ra408d6f6e79f4e95" /><Relationship Type="http://schemas.openxmlformats.org/officeDocument/2006/relationships/image" Target="/ppt/media/image6.svg" Id="Rfcbf68b016cc4442" /><Relationship Type="http://schemas.openxmlformats.org/officeDocument/2006/relationships/notesSlide" Target="/ppt/notesSlides/notesSlide16.xml" Id="R220cd605ae264f7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bb94352e84299" /><Relationship Type="http://schemas.openxmlformats.org/officeDocument/2006/relationships/notesSlide" Target="/ppt/notesSlides/notesSlide17.xml" Id="R8b17e3ffd8d44ad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d1e9a533d4587" /><Relationship Type="http://schemas.openxmlformats.org/officeDocument/2006/relationships/notesSlide" Target="/ppt/notesSlides/notesSlide18.xml" Id="R6b4b3689970f4af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bdce7ecb0444bb" /><Relationship Type="http://schemas.openxmlformats.org/officeDocument/2006/relationships/notesSlide" Target="/ppt/notesSlides/notesSlide19.xml" Id="R421731e02ffd4bd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279bdae9034c19" /><Relationship Type="http://schemas.openxmlformats.org/officeDocument/2006/relationships/notesSlide" Target="/ppt/notesSlides/notesSlide20.xml" Id="R3f95b66201c84cb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2acb651be4d8d" /><Relationship Type="http://schemas.openxmlformats.org/officeDocument/2006/relationships/notesSlide" Target="/ppt/notesSlides/notesSlide21.xml" Id="R45b8da69d06b4e9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1f8018a33042b9" /><Relationship Type="http://schemas.openxmlformats.org/officeDocument/2006/relationships/notesSlide" Target="/ppt/notesSlides/notesSlide22.xml" Id="R66d4e3b1cda5440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14149f61c45f3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06DEA6-1AD1-454F-B5B6-9314CC1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>
              <a:alpha val="8666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B34F05-1595-421E-A4C4-6D796CD7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304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727B0E-DEA8-43A6-A39C-97578A3D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620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A8337-F2B5-4498-A638-EAEC1392A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858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AX TRANSFORMATION PIPELINE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D3E52A-608F-432B-B8F0-73EB57749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GripSense RGB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C32587-2DA8-4FD4-98D1-E904A1081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514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E7F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7E7F4"/>
                </a:solidFill>
                <a:latin typeface="Aptos"/>
                <a:ea typeface="Aptos"/>
                <a:cs typeface="Aptos"/>
              </a:rPr>
              <a:t>RGB-only trained-object grip estimation for faster object-interaction research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701A0E-99B9-4F34-8CC0-CCD1FDA07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495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B9C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AB9C9"/>
                </a:solidFill>
                <a:latin typeface="Aptos"/>
                <a:ea typeface="Aptos"/>
                <a:cs typeface="Aptos"/>
              </a:rPr>
              <a:t>Inventor: Dewanshu Haswani | Samsung Research Institute Bangalore (SRIB)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4B1CFB-B9D5-4C4D-A04A-F4954032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7"/>
          </a:solidFill>
          <a:ln xmlns:a="http://schemas.openxmlformats.org/drawingml/2006/main" w="9525">
            <a:solidFill>
              <a:srgbClr val="2A3B5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22232-F203-4061-865C-57B0C890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925D47-5950-409C-B5C3-A3E2A2C63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Live + offline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26987E-A264-404A-8B93-B4895155E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434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A9B9C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A9B9C9"/>
                </a:solidFill>
                <a:latin typeface="Aptos"/>
                <a:ea typeface="Aptos"/>
                <a:cs typeface="Aptos"/>
              </a:rPr>
              <a:t>webcam and uploaded video analysis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4AFEF0-E979-431E-9A6D-FEE1A3FB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7"/>
          </a:solidFill>
          <a:ln xmlns:a="http://schemas.openxmlformats.org/drawingml/2006/main" w="9525">
            <a:solidFill>
              <a:srgbClr val="2A3B5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921B5E-F655-4537-B4BB-91F3893C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0957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87829-9886-4388-A9D9-26DB5596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286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Object-first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6FBB90-E5F5-4174-A542-F377D6E7C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7434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A9B9C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A9B9C9"/>
                </a:solidFill>
                <a:latin typeface="Aptos"/>
                <a:ea typeface="Aptos"/>
                <a:cs typeface="Aptos"/>
              </a:rPr>
              <a:t>target identity gates grip scoring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200FEB-33DB-458A-9A66-A9940FD6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16764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7"/>
          </a:solidFill>
          <a:ln xmlns:a="http://schemas.openxmlformats.org/drawingml/2006/main" w="9525">
            <a:solidFill>
              <a:srgbClr val="2A3B5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9F53A1-DDC6-4D37-9A89-C96AC4707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95750"/>
            <a:ext cx="1676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236B6-80B8-464C-B34C-7F015881B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86250"/>
            <a:ext cx="1333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Browser-first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FAA4B5-24D3-4B4B-A059-3008F1CE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743450"/>
            <a:ext cx="13525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A9B9C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A9B9C9"/>
                </a:solidFill>
                <a:latin typeface="Aptos"/>
                <a:ea typeface="Aptos"/>
                <a:cs typeface="Aptos"/>
              </a:rPr>
              <a:t>local privacy-preserving prototype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34962A-ACA7-4E41-AF51-76D52F29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CD851A-7954-4F19-AA58-6B9BFF470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01</a:t>
            </a:r>
          </a:p>
        </p:txBody>
      </p:sp>
    </p:spTree>
    <p:extLst>
      <p:ext uri="{BB962C8B-B14F-4D97-AF65-F5344CB8AC3E}">
        <p14:creationId xmlns:p14="http://schemas.microsoft.com/office/powerpoint/2010/main" val="116320830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75F6DC-FFFD-40F5-B3C7-237C2C70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B1CC81-7565-4DDF-A95B-637881F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75EC1C-366B-4545-AA1F-B8FEFE57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EXECUTIVE 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EE5ABC-F98E-4AAE-A426-BB0ECFDB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GripSense RGB turns ordinary cameras into an object-interaction intelligence layer.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2A1466-88A1-41EF-906C-48D9212D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A browser-first platform that connects object identity, hand pose, grip evidence, and temporal stability so R&amp;D teams can evaluate how people hold, move, and manipulate real products.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D0EF35-0B06-47DF-B1C3-BE8BED44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A40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D2C73-4AAD-4CCD-ABB0-0CCF47E2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860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D6E494-47B6-4953-A4B4-A62B61D4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B27B2-96D0-41D7-8836-13D2275B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4D4E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4D4E3"/>
                </a:solidFill>
                <a:latin typeface="Aptos"/>
                <a:ea typeface="Aptos"/>
                <a:cs typeface="Aptos"/>
              </a:rPr>
              <a:t>A working RGB webcam/offline-video app for trained-object detection and visual grip-stability estimation.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7E00B7-F6D0-4957-A007-203F3ADF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A40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B913BD-81A0-487E-BA99-B003F239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6860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49DB6-7A67-495F-A21B-E0740548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6CC289-2F4B-4364-A1DA-8411561E9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4D4E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4D4E3"/>
                </a:solidFill>
                <a:latin typeface="Aptos"/>
                <a:ea typeface="Aptos"/>
                <a:cs typeface="Aptos"/>
              </a:rPr>
              <a:t>It reduces the friction of collecting interaction evidence before teams invest in depth hardware, smart objects, gloves, or lab rigs.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2E5EC4-7C1C-46BE-AFFF-01731671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3238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A40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0574DE-7713-4A22-BF9B-1F7DCDA9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5ECC02-88CD-4EAD-B32C-FC383888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1465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AX value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D1669-0F55-4275-AA5B-44BF00DF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90900"/>
            <a:ext cx="27813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C4D4E3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C4D4E3"/>
                </a:solidFill>
                <a:latin typeface="Aptos"/>
                <a:ea typeface="Aptos"/>
                <a:cs typeface="Aptos"/>
              </a:rPr>
              <a:t>It packages AI + automation into a reusable toolchain for experimentation, dataset creation, validation, and product-interaction analysis.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95BC94-AA72-4F95-84D5-0FD84938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1009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86F6B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6F6B0"/>
                </a:solidFill>
                <a:latin typeface="Aptos"/>
                <a:ea typeface="Aptos"/>
                <a:cs typeface="Aptos"/>
              </a:rPr>
              <a:t>The platform is honest by design: the percentage is visual grip stability, not measured physical force.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E65623-1355-445E-84B3-2D65C209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8995AF-695B-4534-98F7-FFF79A9A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02</a:t>
            </a:r>
          </a:p>
        </p:txBody>
      </p:sp>
    </p:spTree>
    <p:extLst>
      <p:ext uri="{BB962C8B-B14F-4D97-AF65-F5344CB8AC3E}">
        <p14:creationId xmlns:p14="http://schemas.microsoft.com/office/powerpoint/2010/main" val="21082632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FB86D1-2CFA-4A12-9559-F8A2822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A1B73-A2A2-44AE-A663-71E7ABB0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8DA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48BCBD-1FA3-4BF7-9511-CB4BA81B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8DA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8DA0"/>
                </a:solidFill>
                <a:latin typeface="Aptos"/>
                <a:ea typeface="Aptos"/>
                <a:cs typeface="Aptos"/>
              </a:rPr>
              <a:t>WHY AX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0AE3F-610C-4632-A649-F37DBA9FC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The same interaction question keeps appearing across teams.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7B4084-E0C2-4EDC-9AE6-B08510A2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Before automating, augmenting, simulating, or optimizing a task, teams need repeatable evidence of which object is present, how it is held, and whether the interaction is stable.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8F6F3E-7C28-4B35-8D70-8F1EE282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1930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95B81-70C4-4EA6-BD36-08F2B7DA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8122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XR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86055-727B-4D90-B1D4-200C9C3F5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19300"/>
            <a:ext cx="828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376900-E896-46DF-972F-378B6BCC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717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D3A"/>
                </a:solidFill>
                <a:latin typeface="Aptos"/>
                <a:ea typeface="Aptos"/>
                <a:cs typeface="Aptos"/>
              </a:rPr>
              <a:t>Can a headset understand hand-object interaction without markers?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8BBB06-8203-4C78-8527-7EC65B95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24175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A7D5C3-D49F-41AA-A125-D0589DC3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861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Visual Intelligence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D4315B-B41E-43E9-AD7C-0E528DAA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24175"/>
            <a:ext cx="828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6F2F60-9FD0-4D5A-98C0-AC3BB9A9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76575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D3A"/>
                </a:solidFill>
                <a:latin typeface="Aptos"/>
                <a:ea typeface="Aptos"/>
                <a:cs typeface="Aptos"/>
              </a:rPr>
              <a:t>Can RGB models distinguish object presence from empty-hand false positives?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13636-5375-4326-BE0D-2E353D7E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29050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57DCA-85A7-41FC-A313-2B42B9DC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90975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Robotics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26BA4-0AD5-4F3F-BF3F-DAC380A2F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29050"/>
            <a:ext cx="828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EAF996-026E-47EC-97B6-7278BF67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98145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D3A"/>
                </a:solidFill>
                <a:latin typeface="Aptos"/>
                <a:ea typeface="Aptos"/>
                <a:cs typeface="Aptos"/>
              </a:rPr>
              <a:t>Can demos capture grasp affordances, slip risk, and manipulation intent?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6A3039-D648-4A6A-88A4-1BEC6C44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33925"/>
            <a:ext cx="1333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640342-C01D-4A7F-B262-19DA3A5D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958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On-device AI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48481C-7A74-4AC9-8A37-640DF5B5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33925"/>
            <a:ext cx="828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75FE9-A8BF-40FC-B1E5-327BB588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886325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D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F2D3A"/>
                </a:solidFill>
                <a:latin typeface="Aptos"/>
                <a:ea typeface="Aptos"/>
                <a:cs typeface="Aptos"/>
              </a:rPr>
              <a:t>Can the perception pipeline run locally with privacy and latency constraints?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E878B-8B1F-4D2F-8194-725204602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E17672-25B5-476B-B1F7-64040238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03</a:t>
            </a:r>
          </a:p>
        </p:txBody>
      </p:sp>
    </p:spTree>
    <p:extLst>
      <p:ext uri="{BB962C8B-B14F-4D97-AF65-F5344CB8AC3E}">
        <p14:creationId xmlns:p14="http://schemas.microsoft.com/office/powerpoint/2010/main" val="3206661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56E21E-66A4-4F99-ACF8-A679A4076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6E135-06FA-419E-9480-2790DAC2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D2B27-6E1F-4A99-A1ED-4D77C955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TOOL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AB2688-935A-44C4-84F8-5ABB88FF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Product flow: train object -&gt; enable target -&gt; detect target -&gt; estimate grip.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840BB-293E-454A-984C-FFADEA8CE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The UI separates object lock quality, object identity match, visual grip stability, and the limitation that RGB cannot measure true force.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2ed8de6284971"/>
          <a:stretch xmlns:a="http://schemas.openxmlformats.org/drawingml/2006/main"/>
        </p:blipFill>
        <p:spPr>
          <a:xfrm xmlns:a="http://schemas.openxmlformats.org/drawingml/2006/main">
            <a:off x="590550" y="1924050"/>
            <a:ext cx="6858000" cy="4286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43741-E226-4998-9FA0-4CA1602D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095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EB5BAC-3AE5-47F2-8D42-2ADEBBCCE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1907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138CA7-769E-44CF-90DC-2193A473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Train object profile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A6603E-D118-4185-83F3-DAC0EC25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Capture/crop/mask multiple angles and save locally.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14FFBE-E9ED-4325-9315-B3776F73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90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1B91E8-28F3-42B6-AF73-55E0928F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C9A51-6E98-4666-96DB-09252CB7C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99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Enable target 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BCAD4D-9756-4FF2-9859-17874766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766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Choose exactly what the app should track.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98693-B371-4605-ACF7-65E8AA99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862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8AC13D-DF72-40A9-B916-52DBC7AB1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8145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1B5CF5-0A14-48D9-8DE0-B8C11ADE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9052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Detect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B1479-C328-4554-88D5-EFD483A3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71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Require temporal match before turning detection green.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B6A40-6D48-4264-B5C6-427EC9E0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815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BDD906-5D3A-4D16-9B32-5FD0B20F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76800"/>
            <a:ext cx="171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BCDA7B-C928-43EE-A4BE-7BF2ABFD2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8006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Estimate grip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3BB703-64AB-4E96-96A3-FB6C1440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06730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Score visible contact, wrap, support, and motion stability.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EDA87F-33CE-4FDB-B101-2F7BB2BF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41355D-088F-4A01-BE91-F453E8234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04</a:t>
            </a:r>
          </a:p>
        </p:txBody>
      </p:sp>
    </p:spTree>
    <p:extLst>
      <p:ext uri="{BB962C8B-B14F-4D97-AF65-F5344CB8AC3E}">
        <p14:creationId xmlns:p14="http://schemas.microsoft.com/office/powerpoint/2010/main" val="905146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2E6F58-F165-44E5-9E84-2903BA6A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31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799AC-DC4A-4917-B073-69B91CEB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78D76-081D-460E-94F7-5FBFE9C0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SYSTEM PIPELINE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C3EA7-87C4-4C79-99D9-DA1EAF614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From RGB frames to team-readable grip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63B45-7D00-4B90-A1A7-A8381163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The architecture is deliberately modular: stronger descriptor providers or a local inference server can replace the browser descriptor without rewriting the UI or scoring layer.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C2D369-2577-4FE5-B8DB-45FDC14F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93B5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AA7B8-ADDA-4BFF-BF5D-DF8C1D44C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575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9105AB-6886-48B9-9D7E-0117E430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Camera / video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91D18C-ECF1-4A70-A68D-A7FA0E95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webcam stream or uploaded clip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520197-446C-4AE2-A17A-0097E75B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371850"/>
            <a:ext cx="285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26C8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D967A7-2625-4187-8EC2-0E4C7539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93B5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65098-F4BD-487C-8417-D8994615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8575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528F84-50B7-44B8-BD53-2F5BAEFF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0289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Hand landmarks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F54F6-7228-4B2D-8937-7D890D7C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337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MediaPipe Tasks Vision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A7A3B-DA8F-4C4A-8F6D-827A0653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371850"/>
            <a:ext cx="285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26C8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CE299F-19E6-4E36-A115-B62E96D0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93B52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C719E3-A4E8-44F3-A906-758CE79A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8575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56F669-8FF6-40B0-B353-3B3E06B6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0289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Object profile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20424-0C24-4A39-99BE-C9A9334E9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337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masked crops, descriptors, augmentation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6FD8B0-1EBB-4CF2-BAD1-48F032C1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71850"/>
            <a:ext cx="285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26C82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B0D18E-4B89-4D0E-B8A5-852640C6B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93B5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C5CC0-12EF-4EDA-8FA0-D792DEBF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575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132556-676C-49A0-8306-C3F09281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289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Temporal identity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5B0ADFE-DCFE-41C5-8DAE-811DF054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337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multi-frame match and anti-flicker state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C6F803-B911-4FF8-B05F-EADF1EE2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71850"/>
            <a:ext cx="285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26C8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501DD1-15FD-44C0-8479-2B0761C3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93B52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EB4AC-DB5E-4720-BB8A-EC228C2B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FAC557-293B-482B-B5B1-B8512B90C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Grip scoring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70F2E4-6D55-421E-A380-4484F6B2A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mode-specific visual stability evidence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1BE9EF-4AC2-4AFE-B710-B0FFD77A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71850"/>
            <a:ext cx="28575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26C82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BB3D8D-ECFB-46EC-9416-7CCAA90FC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24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93B52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B931DB-4988-4025-86C8-3C7C0534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938D90-5DDF-4936-AC5B-D6D23AD0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028950"/>
            <a:ext cx="1219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Export / review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D552A4-041A-4BA1-B8AD-8623AAA0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333750"/>
            <a:ext cx="1219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AEBDC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AEBDCB"/>
                </a:solidFill>
                <a:latin typeface="Aptos"/>
                <a:ea typeface="Aptos"/>
                <a:cs typeface="Aptos"/>
              </a:rPr>
              <a:t>timeline, diagnostics, CSV/JSON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F5E7C3-FDA8-4411-BE90-3589B328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287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8"/>
          </a:solidFill>
          <a:ln xmlns:a="http://schemas.openxmlformats.org/drawingml/2006/main" w="9525">
            <a:solidFill>
              <a:srgbClr val="2B415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5775BA1-4C6A-43A4-81FD-EE9011DB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38700"/>
            <a:ext cx="1028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BB4DAE-D1A2-49D8-9CC4-E9293193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6F6B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6F6B0"/>
                </a:solidFill>
                <a:latin typeface="Aptos"/>
                <a:ea typeface="Aptos"/>
                <a:cs typeface="Aptos"/>
              </a:rPr>
              <a:t>V4 design principle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471AE1-71DB-48F7-A4BD-EED22348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91100"/>
            <a:ext cx="8001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5E5F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5E5F0"/>
                </a:solidFill>
                <a:latin typeface="Aptos"/>
                <a:ea typeface="Aptos"/>
                <a:cs typeface="Aptos"/>
              </a:rPr>
              <a:t>Never call a grip strong just because the hand is closed. First verify that the enabled target object is actually present and stable across several frames.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29C1D31-479D-46AF-BE34-6DC19CF9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15149-89DD-4325-807E-DD997E0F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05</a:t>
            </a:r>
          </a:p>
        </p:txBody>
      </p:sp>
    </p:spTree>
    <p:extLst>
      <p:ext uri="{BB962C8B-B14F-4D97-AF65-F5344CB8AC3E}">
        <p14:creationId xmlns:p14="http://schemas.microsoft.com/office/powerpoint/2010/main" val="20869918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4ED1CD-8BF1-48E9-BA2B-3BB37437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E37B0-C46F-44D4-9C3D-A898C932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778E8-1251-4DF1-BDB7-F1E36328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IDENTITY 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2D36C9-ED7B-4DC7-A29C-4831C455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V4 fixes the core failure mode: empty hand should not become a confident object grip.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1ECD8-2D95-4AA9-8B59-4F132E94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The model now treats object identity and object lock as separate gates before visual grip scoring is allowed to look strong.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4040dde3e4df6"/>
          <a:srcRect xmlns:a="http://schemas.openxmlformats.org/drawingml/2006/main" l="26" t="0" r="2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" y="2038350"/>
            <a:ext cx="3000375" cy="34861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94433-1F5E-4194-900E-28B89BE3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66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Observed learning case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419C09-8E4C-4D59-904E-9F7929BF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E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1F13F-1705-47DD-9CC5-8E1DFE56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90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0BC39-55AE-4F7C-8BD1-298F372F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0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Object lock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9EB4D-52BC-4C38-A9DC-9ECE5D0C4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051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D6174"/>
                </a:solidFill>
                <a:latin typeface="Aptos"/>
                <a:ea typeface="Aptos"/>
                <a:cs typeface="Aptos"/>
              </a:rPr>
              <a:t>Is the region real, not skin-only/background?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596A9-AACA-4623-8690-D2E3DE49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E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66E4F3-C39D-4E02-8DC2-216D4E2F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90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03042-C727-453F-AD4B-A629AED7A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Identity match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35928-E7A8-4622-89D7-6C1DF412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051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D6174"/>
                </a:solidFill>
                <a:latin typeface="Aptos"/>
                <a:ea typeface="Aptos"/>
                <a:cs typeface="Aptos"/>
              </a:rPr>
              <a:t>Does it match an enabled trained object?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8CE4C1-6B8C-4B6B-B882-A975F6062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E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C74ED7-7C90-4B47-94B1-7882D18B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7753CA-B8B8-4375-8FB6-6A199ECB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924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Temporal match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D773CD-8E83-4668-ADA1-CEBC038D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2291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D6174"/>
                </a:solidFill>
                <a:latin typeface="Aptos"/>
                <a:ea typeface="Aptos"/>
                <a:cs typeface="Aptos"/>
              </a:rPr>
              <a:t>Has it persisted for repeated frames?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804223-85AD-4D4E-A16D-143FBCE0D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2857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E2E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0D47F-EAD0-4D8A-AA05-A6CA1E8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1475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2C0291-402A-4F96-BD9B-2121D51F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243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Grip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15315E-456F-4BB0-AF32-983FED9F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229100"/>
            <a:ext cx="2400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D617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D6174"/>
                </a:solidFill>
                <a:latin typeface="Aptos"/>
                <a:ea typeface="Aptos"/>
                <a:cs typeface="Aptos"/>
              </a:rPr>
              <a:t>Only then estimate stability and guidance.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E97BA2-ED01-47CC-928F-49459A17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CFAD81-E5B6-42C6-8FD7-CC7FC8FB5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06</a:t>
            </a:r>
          </a:p>
        </p:txBody>
      </p:sp>
    </p:spTree>
    <p:extLst>
      <p:ext uri="{BB962C8B-B14F-4D97-AF65-F5344CB8AC3E}">
        <p14:creationId xmlns:p14="http://schemas.microsoft.com/office/powerpoint/2010/main" val="8550621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FBB821-330A-4A0A-961A-357C3080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6168E-ECB3-456F-B06F-5E00FAEF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F45FF-E8D6-49BF-93CD-941935AB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OBJECT PROFILE V4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B360F-A764-4E77-8312-10599FE99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Training is a guided capture workflow, not a blind browser session.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F2679-4B0D-43D5-9280-8CCCFC4CE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Users can add camera captures or uploads, crop/mask the object, name it, and save a profile locally for later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1C234-3091-494E-8CD6-A177995B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90A5F6-FFAC-4946-A3C7-CE36D3DD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FF8E14-E8A4-432C-9772-51E7AE1EF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05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Front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112281-FF17-43BD-88AB-908E7C6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289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C7D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C7D5"/>
                </a:solidFill>
                <a:latin typeface="Aptos"/>
                <a:ea typeface="Aptos"/>
                <a:cs typeface="Aptos"/>
              </a:rPr>
              <a:t>canonical product face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D01F2-10D9-4A87-BAE9-91C8DDBD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D4B368-B70C-40D4-9834-16CAD1E0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955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C7B282-1AF4-480D-AFEA-A98B8E03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305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Side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29788A-8B8E-4543-AEC9-A757B021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289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C7D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C7D5"/>
                </a:solidFill>
                <a:latin typeface="Aptos"/>
                <a:ea typeface="Aptos"/>
                <a:cs typeface="Aptos"/>
              </a:rPr>
              <a:t>shape/aspect robustness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E4584-3A6D-4EE0-82E3-B93BBA3D1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382AE0-A4EB-4098-B326-4CAD9BCCD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DE083E-5112-4D4B-AF0A-A3232B6F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050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Rotated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9DBA0-97B8-4BFC-98F4-E4E1E4DD6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289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C7D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C7D5"/>
                </a:solidFill>
                <a:latin typeface="Aptos"/>
                <a:ea typeface="Aptos"/>
                <a:cs typeface="Aptos"/>
              </a:rPr>
              <a:t>pose variance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2BD55C-1E3B-4DEE-9780-83BC9200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1F23A2-9354-4CE3-B3F2-78D40B08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A32E7D-50C9-402F-A3DA-AB663990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33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Object in hand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C2511-1DDC-46FA-9901-9D6284A3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C7D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C7D5"/>
                </a:solidFill>
                <a:latin typeface="Aptos"/>
                <a:ea typeface="Aptos"/>
                <a:cs typeface="Aptos"/>
              </a:rPr>
              <a:t>occlusion reality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84A715-C99D-477D-AC8A-5ACFCAC9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9672CD-6A68-476B-8D34-77B2CBFE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242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1800FA-CAD8-45CF-8F55-91ECF6B0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733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Object alone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F164EE-8DE6-4FAC-92A6-3C1ADF42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0576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C7D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C7D5"/>
                </a:solidFill>
                <a:latin typeface="Aptos"/>
                <a:ea typeface="Aptos"/>
                <a:cs typeface="Aptos"/>
              </a:rPr>
              <a:t>clean descriptor anchor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DCF2DB-25FA-4EDF-AAD9-A3CACC44A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3238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CCD80-9636-4AC5-B72B-6B1F82E4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24250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D52919-8380-419C-AB9C-70BE57486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338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Negative examples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FE35EF6-DEE7-4F23-941B-87512C33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0576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7C7D5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7C7D5"/>
                </a:solidFill>
                <a:latin typeface="Aptos"/>
                <a:ea typeface="Aptos"/>
                <a:cs typeface="Aptos"/>
              </a:rPr>
              <a:t>nearby backgrounds / similar non-targets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CB4ED6-4BEA-4528-8C45-C385F1A4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62550"/>
            <a:ext cx="9334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A27"/>
          </a:solidFill>
          <a:ln xmlns:a="http://schemas.openxmlformats.org/drawingml/2006/main" w="9525">
            <a:solidFill>
              <a:srgbClr val="2B405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EE34C9-E21B-4CDA-900B-6DB2C98EC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2959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6F6B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6F6B0"/>
                </a:solidFill>
                <a:latin typeface="Aptos"/>
                <a:ea typeface="Aptos"/>
                <a:cs typeface="Aptos"/>
              </a:rPr>
              <a:t>Training is not blocked; the UI grades it as weak, good, or robust profile so experimentation can continue while quality remains visible.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60DA46-9031-4276-A71B-0ABF6714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91B8AF-E062-4FB8-9F2F-6F701BA0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07</a:t>
            </a:r>
          </a:p>
        </p:txBody>
      </p:sp>
    </p:spTree>
    <p:extLst>
      <p:ext uri="{BB962C8B-B14F-4D97-AF65-F5344CB8AC3E}">
        <p14:creationId xmlns:p14="http://schemas.microsoft.com/office/powerpoint/2010/main" val="118689639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B467E6-56F2-45F3-99FD-D6AC9E2F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5B602-D4AD-46CC-867D-4F30DE48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C8F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805DA5-F8D2-42C4-ABFB-A6620149B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C8FA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C8FA3"/>
                </a:solidFill>
                <a:latin typeface="Aptos"/>
                <a:ea typeface="Aptos"/>
                <a:cs typeface="Aptos"/>
              </a:rPr>
              <a:t>DESCRIPTOR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2989A-5BA6-4A7C-BCDE-0FE549ED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The browser descriptor is stronger than color matching, and prepared for embeddings.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A3CA2-71AC-4AFF-8CB2-C6840B8E9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V4 uses handcrafted multi-signal descriptors now, while the ObjectDescriptorProvider interface keeps the path open for ONNX, CLIP, DINO, or a local Python server.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06B83D-6FB3-471F-A9FC-8BEFA681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3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174B3-87D8-4E5E-86A9-05640ED5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027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81760-F1AF-473F-80F6-DB771FB6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955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3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35B73-CF06-4F7C-92C1-A8AAE7E18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2002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Current V4 browser implementation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51A48-0614-434A-B96D-C55A175B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955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3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291AE-EC71-4775-833C-B9367393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200275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Why it improves accuracy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1A6312-BB7F-43EE-AE76-F857620D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5C805-DBC4-4984-A48E-E64B3B563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Color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A043C-2343-4781-92BA-3E836E3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88AFFE-1573-4C1B-9AAE-ECB58687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527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HSV + normalized RGB/chroma histograms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829EEA-30C5-42ED-80CD-A3F78BC6E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479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7389ED-9FC2-4419-95E3-D08899E4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752725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More robust under lighting shifts than raw RGB only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B5CEBE-4440-4C91-B7D9-6A73DC27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B26D8-651E-4380-BE41-B33F1F6D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0517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Edges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1E7D3-8B23-40C9-BF87-7147348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004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353A0-0A35-4ADC-8575-62C5C405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3051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Orientation histograms + local gradients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DAF92B-BDB8-47A2-91B9-D93D3EC21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04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D1192C-99AE-424E-8640-3A95B568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05175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Catches phone/bottle silhouettes and side edges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DF3A94-767E-478C-B97D-D82AC433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017D8B-97EB-4B9B-A444-0E562B12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Shape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7C752C-D4D7-4229-93CA-8D76F2B4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528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CE4DA4-B1FA-41E1-8346-DFB921D7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Aspect, coverage, contour/tightness features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03C4D2-12F3-4E84-A5FD-35BDA6E0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1E517E-705F-4F0A-9023-D33FD8E58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857625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Rejects huge boxes and background-like regions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77C639-BE86-49BD-BF8D-4BC6A623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5F075E-EB80-4354-9042-609BD071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1007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Texture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B7B188-46B0-4991-A947-022B2780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0530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5FB9E9-4F79-4374-8BAE-B7130473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100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Small grayscale patch statistics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479EB89-1A96-470E-81C7-E468D689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0530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989A80-6611-46D0-B7E8-F8CA9B6F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10075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Adds weak material cues for remotes, mugs, tools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838260-5FAD-45F0-BE50-8356BCD7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5110F3-873B-41A7-803A-2113552A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62525"/>
            <a:ext cx="14097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Augmentation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D07BAF4-BDEB-4A18-91A9-17C06AA0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857750"/>
            <a:ext cx="4095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125BA1D-99A7-491A-8B7F-3C74575F6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96252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Flip/brightness/contrast variants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B74D910-4AC9-4AE7-94A1-A4F95B1C1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57750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34C3B1-0721-40E3-AE41-492A22AD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962525"/>
            <a:ext cx="3981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Improves matching across camera exposure changes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92BC9DC-1591-42A5-9F1F-E56C8DE0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CA2579C-F3E4-4EA8-AD92-10357DFB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08</a:t>
            </a:r>
          </a:p>
        </p:txBody>
      </p:sp>
    </p:spTree>
    <p:extLst>
      <p:ext uri="{BB962C8B-B14F-4D97-AF65-F5344CB8AC3E}">
        <p14:creationId xmlns:p14="http://schemas.microsoft.com/office/powerpoint/2010/main" val="14930606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F4B6A0-D241-4BC4-9EE1-FA8575D9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4FF28-076A-4A7E-8C6D-47CE57F7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DFBD2A-120D-4A17-B067-015155EB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TEMPORAL IDENTITY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5D0580-44CC-450B-9A28-533BDA4C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Target detection is a state machine, not a one-frame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C9B874-62AB-452A-8CB8-54FE73C4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This reduces flicker, wrong detections, and the common issue where a closed hand looks like an object.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3A937-4488-438C-9B7F-C1CCF960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A2A3A"/>
          </a:solidFill>
          <a:ln xmlns:a="http://schemas.openxmlformats.org/drawingml/2006/main" w="28575">
            <a:solidFill>
              <a:srgbClr val="A8B8C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45C622-A2FF-4872-B8E9-114FB1AD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067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No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FAA0C-91AE-4455-B441-02C4A2AD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B9C6D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6D2"/>
                </a:solidFill>
                <a:latin typeface="Aptos"/>
                <a:ea typeface="Aptos"/>
                <a:cs typeface="Aptos"/>
              </a:rPr>
              <a:t>no enabled profile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809AF-9925-4A31-8340-F53EBF6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62325"/>
            <a:ext cx="91440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36A8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A78F57-8737-4C54-AC04-68E843AD5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432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63522"/>
          </a:solidFill>
          <a:ln xmlns:a="http://schemas.openxmlformats.org/drawingml/2006/main" w="28575">
            <a:solidFill>
              <a:srgbClr val="FFD16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E1397-D327-4DE6-885F-4AB34CE2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67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Warming up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75F08F-0434-405F-81AF-8FCF0ACC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7185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B9C6D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6D2"/>
                </a:solidFill>
                <a:latin typeface="Aptos"/>
                <a:ea typeface="Aptos"/>
                <a:cs typeface="Aptos"/>
              </a:rPr>
              <a:t>candidate match appears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D4374B-C30C-414D-8A2E-015789B9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362325"/>
            <a:ext cx="91440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36A8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4625F-F3E1-4CBA-AF6B-625E163C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432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3325"/>
          </a:solidFill>
          <a:ln xmlns:a="http://schemas.openxmlformats.org/drawingml/2006/main" w="28575">
            <a:solidFill>
              <a:srgbClr val="86F6B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7F896-8BF7-4692-9C6E-A3C3047C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067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Detected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43BF2-DE4E-4656-B62A-19AE62C9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7185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B9C6D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6D2"/>
                </a:solidFill>
                <a:latin typeface="Aptos"/>
                <a:ea typeface="Aptos"/>
                <a:cs typeface="Aptos"/>
              </a:rPr>
              <a:t>match streak passes threshold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B262E5-29A4-4000-9B54-0CD23B372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62325"/>
            <a:ext cx="91440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36A8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C4F7E-40F0-4FFD-B20D-DE70365E6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84A"/>
          </a:solidFill>
          <a:ln xmlns:a="http://schemas.openxmlformats.org/drawingml/2006/main" w="28575">
            <a:solidFill>
              <a:srgbClr val="5EE7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197990-A2C7-461A-8E94-0F5DF918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067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Grip active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B651D1-75F6-4B59-A058-A5E9F5AE3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7185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B9C6D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6D2"/>
                </a:solidFill>
                <a:latin typeface="Aptos"/>
                <a:ea typeface="Aptos"/>
                <a:cs typeface="Aptos"/>
              </a:rPr>
              <a:t>hand-object relationship is stable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9AB5A3-81AC-4602-A34A-3C6FC2A6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62325"/>
            <a:ext cx="914400" cy="19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36A8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F09D1-DDA5-4DB4-92FD-E77485A8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7432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2224"/>
          </a:solidFill>
          <a:ln xmlns:a="http://schemas.openxmlformats.org/drawingml/2006/main" w="28575">
            <a:solidFill>
              <a:srgbClr val="FF7B7B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62E2FD-3D7A-40C9-96F3-EAB75D5C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06705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Lost/uncertain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B15821-67A1-4BCB-9ED2-C18A194B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71850"/>
            <a:ext cx="971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B9C6D2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B9C6D2"/>
                </a:solidFill>
                <a:latin typeface="Aptos"/>
                <a:ea typeface="Aptos"/>
                <a:cs typeface="Aptos"/>
              </a:rPr>
              <a:t>match drops or lock quality collapses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8BB5D2-294C-4565-A73D-9257D9A6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768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D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DCA"/>
                </a:solidFill>
                <a:latin typeface="Aptos"/>
                <a:ea typeface="Aptos"/>
                <a:cs typeface="Aptos"/>
              </a:rPr>
              <a:t>Object match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41610E-56EA-4074-8230-3B00E1D22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590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329B9E-E86B-4286-954B-EAF25AAE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507682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743C6-BDE2-446E-8071-FF680151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8196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86%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7F4694-45BD-4A0F-B9AA-5AA4EEF6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2006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D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DCA"/>
                </a:solidFill>
                <a:latin typeface="Aptos"/>
                <a:ea typeface="Aptos"/>
                <a:cs typeface="Aptos"/>
              </a:rPr>
              <a:t>Motion agreement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31F172-49CF-43C2-A9FB-EDA151849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590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6E5AAC8-6C42-48DF-8EA7-0DE9DADF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42481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BD15BF-9A93-4B1B-8374-6AE1B4AE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1435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72%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748675-C2DD-4ECC-A7EA-8D159EA7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2450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D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DCA"/>
                </a:solidFill>
                <a:latin typeface="Aptos"/>
                <a:ea typeface="Aptos"/>
                <a:cs typeface="Aptos"/>
              </a:rPr>
              <a:t>Slip 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EC2E74-8A04-4B75-82A4-18BB504F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43550"/>
            <a:ext cx="590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6C77EC-2056-45B9-A3A3-F2AC5E3D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543550"/>
            <a:ext cx="1066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601951-51C9-4DD3-81F2-304D4B29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673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18%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A4F475-1DA2-4865-BC99-1B7CB270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8483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EBDC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AEBDCA"/>
                </a:solidFill>
                <a:latin typeface="Aptos"/>
                <a:ea typeface="Aptos"/>
                <a:cs typeface="Aptos"/>
              </a:rPr>
              <a:t>Lock quality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D74C3A-87A0-4181-931F-25B6A34A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67400"/>
            <a:ext cx="5905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24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050E66-DBEC-4378-AB4E-36FB45E14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867400"/>
            <a:ext cx="47815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4D07DD-8AB0-4DBA-88DD-5C59B482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912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81%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C0F165-A0B7-4E3F-9A88-BE738F9B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C04F04F-1839-4159-8AE9-2E46DE01D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09</a:t>
            </a:r>
          </a:p>
        </p:txBody>
      </p:sp>
    </p:spTree>
    <p:extLst>
      <p:ext uri="{BB962C8B-B14F-4D97-AF65-F5344CB8AC3E}">
        <p14:creationId xmlns:p14="http://schemas.microsoft.com/office/powerpoint/2010/main" val="198120494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D7F7DB-4799-4E46-8C2D-3070FC2B3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447DB-8F44-4A39-AC85-0B5125C66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5B410-028F-4102-A6D2-E7CB6AD6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VISUAL GRIP STABILITY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7E9B32-4ACE-4E85-8E41-C6C7D334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Grip percentage is a weighted evidence model, not force measurement.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26DE4-D6DD-49A1-B34D-E11E6FE6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The score estimates whether the object appears visually secure in RGB frames by combining mode-specific features.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09178-5902-4842-9639-B729615B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714625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8CBD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1BBD95-D71B-4540-8EF9-FFA7AF49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09950"/>
            <a:ext cx="1333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Grip</a:t>
            </a:r>
          </a:p>
          <a:p xmlns:a="http://schemas.openxmlformats.org/drawingml/2006/main">
            <a:pPr algn="ctr">
              <a:defRPr sz="16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stability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72C9A-5C26-4F77-8647-CE2745EF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809750"/>
            <a:ext cx="762000" cy="1905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4A8B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7F8597-C724-47A1-8B84-0110B347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2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40DC80-AD9C-4124-87D6-18033F27F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192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EEC64-7879-41E8-BE95-9230C908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7811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Visible contact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AB25AB-EBAB-4C3D-95B2-3FD18C06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62250"/>
            <a:ext cx="3524250" cy="952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4A8B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012451-D7EF-40D1-AF48-04ADEE69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2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73F2CC-FCA0-49EF-83CC-DAB010C7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B9AED-2AE3-478C-90AF-9E1266385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336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Finger wrap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7A2F2-8A49-48A3-B258-B8863E41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3524250" cy="1333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4A8B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4A9370-1986-49FC-92EB-7FDE1CAD9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2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BB3F4D-DBB4-45E6-AD13-2DEDBBBF8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577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DBBE0-7205-4116-91D2-8AC24A0B8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96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Palm support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EC4932-D14B-4552-AB12-D208C4B4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14750"/>
            <a:ext cx="762000" cy="2381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4A8B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67F0B-67DC-4A17-880D-8F8D2BA4A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2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2DC72B-3DEA-4A4F-B2B9-02DF1AB7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9055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1C8FA1-D3B6-438D-9F17-7082FD98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60674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Thumb support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65E51-91C9-4B3C-80AA-3B918D33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14750"/>
            <a:ext cx="1924050" cy="1333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4A8B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A7421F-0707-4D60-BCE1-1E9C953A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2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BD798-FC36-4BD7-A9DA-ED98C02E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5E81BA-6F5B-47B3-B497-09592F3B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196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Motion stability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E0CDB9-ADBF-49BC-997C-AB672561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762250"/>
            <a:ext cx="1924050" cy="9525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94A8B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DAF7A3-0AA5-4F16-BB16-A57D10C7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2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1A9D4B-028C-4E8D-BB3B-8AFEE80F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90E082-3797-442D-84A2-D9CAA9686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3367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Slip persistence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6100F4-8C37-4F76-B58A-16A025C1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7622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9E2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3D7962-54FA-410B-8125-493BE8AE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2762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495661-AAC6-4CC5-923E-E8BD206A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4574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Guidance states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8F2B4-ED1E-4EB7-B658-BC5982B3D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19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EEA85A-8DDF-42FC-82B5-3FDB8EBE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718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42556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425568"/>
                </a:solidFill>
                <a:latin typeface="Aptos"/>
                <a:ea typeface="Aptos"/>
                <a:cs typeface="Aptos"/>
              </a:rPr>
              <a:t>Strong hold: stable identity + strong visual evidence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439359E-DCD6-47FB-BF65-FC66A810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76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F1245FB-DC46-4B4D-9087-FFDF2F81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290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42556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425568"/>
                </a:solidFill>
                <a:latin typeface="Aptos"/>
                <a:ea typeface="Aptos"/>
                <a:cs typeface="Aptos"/>
              </a:rPr>
              <a:t>Improve grip: object detected, but support/contact is partial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353A39-C2CF-4474-9648-ACC93156A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9338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DA1593-B606-4028-B520-14A968CC3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862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42556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425568"/>
                </a:solidFill>
                <a:latin typeface="Aptos"/>
                <a:ea typeface="Aptos"/>
                <a:cs typeface="Aptos"/>
              </a:rPr>
              <a:t>Object uncertain: detection/lock is the weak part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68A624-E767-4975-8AB5-B16BEF174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910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64C7C7-F03A-456B-A5BC-5986E611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43400"/>
            <a:ext cx="21717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425568"/>
                </a:solidFill>
                <a:latin typeface="Aptos"/>
                <a:ea typeface="Aptos"/>
                <a:cs typeface="Aptos"/>
              </a:defRPr>
            </a:pPr>
            <a:r>
              <a:rPr sz="923" b="0">
                <a:solidFill>
                  <a:srgbClr val="425568"/>
                </a:solidFill>
                <a:latin typeface="Aptos"/>
                <a:ea typeface="Aptos"/>
                <a:cs typeface="Aptos"/>
              </a:rPr>
              <a:t>Slip risk: sustained relative motion, not a noisy frame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862599-4E6B-4857-A8D9-FE7510B1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CC8695-044C-41EE-AD9A-141005BB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10</a:t>
            </a:r>
          </a:p>
        </p:txBody>
      </p:sp>
    </p:spTree>
    <p:extLst>
      <p:ext uri="{BB962C8B-B14F-4D97-AF65-F5344CB8AC3E}">
        <p14:creationId xmlns:p14="http://schemas.microsoft.com/office/powerpoint/2010/main" val="1614027164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7FA61-8346-4230-8223-7BA6857B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5D5547-D2B1-447B-8258-7AFB5C9C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764D1-798C-4F12-BAE0-31312091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MODE-SPECIFIC SCORING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71E63-837F-4059-BDC0-7628D239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Different objects need different grip logic.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DAAB6-0BD8-46CD-87B6-CBA4FBC9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A phone-side grip, bottle power grip, mug handle grip, pinch grip, and hook grip should not be scored with the same formula.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AE8937-D46A-4B8D-8E6B-FA79A753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574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3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4DFBC7-3A54-41D0-AF6F-36011031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6217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Grip mode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2E344B-E391-4EFC-B7CC-1ED576C2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574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3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758C2-817B-4C43-84D5-77F0FDAA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62175"/>
            <a:ext cx="4171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Primary 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A8CA2-43A7-431F-821A-8D40D630B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574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23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616C0-CBE9-46D4-A640-D0F56050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162175"/>
            <a:ext cx="464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Failure to avoid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37BAA8-F328-459B-913B-A15C281E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49F79-C52B-49E3-A1D7-C99BD908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7177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Phone / remote side grip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BA3D27-F3F4-45D5-9AA8-59E4CE84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88631A-5B5E-42E0-AA8A-F1774A1B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771775"/>
            <a:ext cx="4171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side-edge support, finger segments, thumb-side opposition, temporal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911D2D8-7603-403B-BAF3-EE31D305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670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00C708-A17A-4C64-9BE4-52D36382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771775"/>
            <a:ext cx="464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low score because only 1-2 fingertips are visible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72AB2A-5775-4BA5-AA69-3E663268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F1102-D61C-4667-BC89-DC8C452F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8137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Bottle / power grip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A63C62-595C-434C-A5F7-EE0CEBE2B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BEA280-12DF-4C20-B7CF-26E23B9D4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381375"/>
            <a:ext cx="4171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wrap, palm containment, coupling, slip persistence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608A67-FFB6-4264-A95A-C240102D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2766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18C243-EEAD-4AFD-B7AB-E307BEC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381375"/>
            <a:ext cx="464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false slip when the object and hand are idle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24620-B52D-4CA0-B6D4-70B22B97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7BA09F-F609-4E28-AA2B-C26C19412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9097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Pinch grip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440FD2-0FE3-4753-A546-2F7BDC64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862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C95438-4213-4B06-A147-B1F24EE48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90975"/>
            <a:ext cx="4171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thumb-index opposition, small-object center stability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2E5E17-1980-448A-BFA6-C0C35769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862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EE1170-B153-4E63-A96C-870068AB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90975"/>
            <a:ext cx="464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penalizing small objects for low enclosure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3BA2CC-3EE0-4395-81B8-0A09E086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958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CEAF68-4F9D-4C17-9DEF-79F28ECB2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0057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Hook grip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0BBAA2-53E5-4458-ACB2-8FFB05731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4958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D832DF-F444-44E3-92D9-0E158258E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600575"/>
            <a:ext cx="4171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finger curl and object support over fingertips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B48BCD-C881-4017-A2CD-9B82E058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4958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BC96092-0254-45C1-97D8-BD2C2BA5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00575"/>
            <a:ext cx="464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requiring visible thumb when thumb is naturally absent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A63535-0276-481D-99DD-2E302DA1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054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2B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145B5A-1700-481D-9B89-0A4A7C20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1981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Open hand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B6FD9F-D1D0-4B39-936F-D9100230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105400"/>
            <a:ext cx="4381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8381DF4-A419-4ED4-B6DD-FB9765B0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10175"/>
            <a:ext cx="41719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low closure, no target identity, low containment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FA9C419-F32F-4980-B2B2-D36EC05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4857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724"/>
          </a:solidFill>
          <a:ln xmlns:a="http://schemas.openxmlformats.org/drawingml/2006/main" w="9525">
            <a:solidFill>
              <a:srgbClr val="273A50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B58E07-6317-4AE5-946D-6B029D7A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210175"/>
            <a:ext cx="4648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BDCCD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BDCCD9"/>
                </a:solidFill>
                <a:latin typeface="Aptos"/>
                <a:ea typeface="Aptos"/>
                <a:cs typeface="Aptos"/>
              </a:rPr>
              <a:t>empty hand becoming strong grip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77A3F0-1259-4359-9B5E-2071E541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F880546-7FD6-498A-B8B7-1943B24A7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11</a:t>
            </a:r>
          </a:p>
        </p:txBody>
      </p:sp>
    </p:spTree>
    <p:extLst>
      <p:ext uri="{BB962C8B-B14F-4D97-AF65-F5344CB8AC3E}">
        <p14:creationId xmlns:p14="http://schemas.microsoft.com/office/powerpoint/2010/main" val="12467534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7F92B-F93A-4668-B2A6-F5DE9182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9121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80B14-0018-474E-A6A5-DAAAFF93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FE2BB2-5878-4F95-9334-76B71231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OFFLINE ANALYSIS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182A56-5FC2-40FE-9C5C-35C88AF64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Uploaded videos become transparent, reviewable grip-analysis timelines.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93258-5E6E-4699-A25F-A7E4C7C2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Offline mode supports repeatable analysis when live demo timing is difficult or when teams need a reportable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38861D-6012-4365-8D51-9E34AB72B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76450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1D"/>
          </a:solidFill>
          <a:ln xmlns:a="http://schemas.openxmlformats.org/drawingml/2006/main" w="9525">
            <a:solidFill>
              <a:srgbClr val="34506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A9DFF4-C38F-41E8-993B-EA825A37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4876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E6B88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6522E2-5F52-46C6-9B2A-301F2F62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24225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LIVE DEMO VIDEO PLACEHOLDER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C8754-F8EA-44F5-852F-5B946C1F7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86175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6D4"/>
                </a:solidFill>
                <a:latin typeface="Aptos"/>
                <a:ea typeface="Aptos"/>
                <a:cs typeface="Aptos"/>
              </a:rPr>
              <a:t>Insert screen recording of GripSense RGB V4 here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9F72C8-E527-4A24-994F-2F8D03A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36195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B40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7C135-F5BF-4ED0-BDDD-6146B2DF9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3619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323B12-A7A9-4998-867F-4166B03E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4193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Timeline outputs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70322-4BE6-4691-8C60-D79493DC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0480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86F6B0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86F6B0"/>
                </a:solidFill>
                <a:latin typeface="Aptos"/>
                <a:ea typeface="Aptos"/>
                <a:cs typeface="Aptos"/>
              </a:rPr>
              <a:t>Grip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C56AE4-4E53-485F-B1CB-09909B57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58490"/>
            <a:ext cx="114300" cy="80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C14C53-8B1A-48A8-A367-60F460B8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8483"/>
            <a:ext cx="114300" cy="1400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5D00EF-F6BC-464B-BFFD-B02FB359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06471"/>
            <a:ext cx="114300" cy="23202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C5EF6B-0AB4-4209-BC93-49561C1F8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934462"/>
            <a:ext cx="114300" cy="304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F0BFE6-9121-4331-9C2A-4A37CB71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966466"/>
            <a:ext cx="114300" cy="2720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32BB1-2D57-4EB0-955B-D795F1F1C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94457"/>
            <a:ext cx="114300" cy="3440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057110-F516-4404-A566-5E4E1B26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910459"/>
            <a:ext cx="114300" cy="3280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9228C7-2181-44AF-9222-2F6F5A299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94470"/>
            <a:ext cx="114300" cy="2440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AEB027-FB6E-40AC-A235-834C9F0A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942463"/>
            <a:ext cx="114300" cy="2960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1EC176-D2B3-4A77-AA5B-753B5951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4805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EE7FF"/>
                </a:solidFill>
                <a:latin typeface="Aptos"/>
                <a:ea typeface="Aptos"/>
                <a:cs typeface="Aptos"/>
              </a:rPr>
              <a:t>Object match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2DE94-8974-485A-9134-92C97E4A0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E3B59-5567-4387-B32B-5C5B8CAB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6541"/>
            <a:ext cx="114300" cy="7200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53FD1B-D571-4F84-99F2-FDE18B70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22523"/>
            <a:ext cx="114300" cy="21602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EE0EFB-36EF-446F-8493-857261C5E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350514"/>
            <a:ext cx="114300" cy="2880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894536-D27D-4A15-8D3B-F351F2EF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86506"/>
            <a:ext cx="114300" cy="3520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B60C74-331C-4A52-A367-9B5F7C1A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8505"/>
            <a:ext cx="114300" cy="36004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5EF8DD-2832-4C32-A977-1A7B4E42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298508"/>
            <a:ext cx="114300" cy="3400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DB29E7-21EE-4501-AAE3-CC8F041B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58515"/>
            <a:ext cx="114300" cy="2800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E2DA3E-21C4-4493-A128-01066AFB1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34512"/>
            <a:ext cx="114300" cy="3040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1C3BA05-4039-43BA-AD6B-BB6171570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848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FF7B7B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7B7B"/>
                </a:solidFill>
                <a:latin typeface="Aptos"/>
                <a:ea typeface="Aptos"/>
                <a:cs typeface="Aptos"/>
              </a:rPr>
              <a:t>Slip 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9E2983A-B4A2-48D5-B3BE-76F519A6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8C4242-F586-41A0-9BFD-6A27B8AA7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39C576-1387-4016-970B-AF61E5E3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0005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E501675-4A3A-42A4-9A41-47FAEF8D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0005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F60A76-6BC8-487C-9E1F-D6578FB6F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50589"/>
            <a:ext cx="114300" cy="880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71167B-5E88-4718-8BB6-E766C26C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82593"/>
            <a:ext cx="114300" cy="560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B594906-92FB-4AA3-8868-E468CAE6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114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179A19-D3DD-4800-9A28-503C40D8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98583"/>
            <a:ext cx="114300" cy="14001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31A83D-70A1-4355-8A0F-3781247D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990594"/>
            <a:ext cx="114300" cy="4800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EB773DC-F7ED-465F-89DF-7DECF361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838700"/>
            <a:ext cx="238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C4058"/>
            </a:solidFill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a279b33954eda">
            <a:extLst>
              <a:ext uri="{96DAC541-7B7A-43D3-8B79-37D633B846F1}">
                <asvg:svgBlip xmlns:asvg="http://schemas.microsoft.com/office/drawing/2016/SVG/main" r:embed="R8631c4496dc646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19950" y="496252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7734618-5BAD-4168-85C2-138E11525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53000"/>
            <a:ext cx="1866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Export CSV / JSON report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182755-0FC9-4183-B585-0598B9FF8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E5F542-A0D4-41ED-939A-C33DF246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12</a:t>
            </a:r>
          </a:p>
        </p:txBody>
      </p:sp>
    </p:spTree>
    <p:extLst>
      <p:ext uri="{BB962C8B-B14F-4D97-AF65-F5344CB8AC3E}">
        <p14:creationId xmlns:p14="http://schemas.microsoft.com/office/powerpoint/2010/main" val="9297929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B1ABD2-9B20-46CA-8A12-D5827844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357ABF-8D0A-41BF-B212-78ECCF219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B46E-20A2-4422-9F0C-D2F16DEC7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PRODUCT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B0511-1445-4D54-9F70-B4331EDB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V4 is already shaped as a working internal platform.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9A7F65-9ECB-4FF3-B6BC-8425E6C27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It is not only an algorithm demo; it includes the product surfaces needed for training, evaluation, debugging, and reporting.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8ef3f2960a462c"/>
          <a:srcRect xmlns:a="http://schemas.openxmlformats.org/drawingml/2006/main" l="141" t="0" r="1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1050" y="1809750"/>
            <a:ext cx="2238375" cy="48577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E4EF9-E105-4ED7-ADC7-62C191AA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431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FE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E10BB8-7AA6-4BC5-BDD6-223162EB5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431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283AC5-55E2-41F5-9A39-0AD86F68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114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Object profiles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534BD3-8E9B-44F4-A973-658326C6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00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list trained objects, enable/disable target tracking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4F917E-CCC8-4AD2-B4CC-52496FA3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431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FE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3C6246-CE92-455A-BED6-504B5A179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431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4ED9A-60E0-4B38-8481-62DFCAE8F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Guided training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76C28-266D-4CAC-8053-C7B404FA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camera capture/upload, crop/mask, multi-angle roles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9C0A72-B7B2-4B15-9515-773CDD8D0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04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FE7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A70A6-2905-4756-8296-0DC94A8ED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004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BBB2C5-A8E2-4449-B42C-A1243F25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Live diagnostics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CE7C9A-7171-4713-8404-E17F6428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57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object lock, identity match, grip stability, motion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036C88-3999-4B95-A91F-A3D372AA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FE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AF5548-5632-401C-8E71-D13EA90A7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004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4E8966-CE79-41A5-83D2-2A36190F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718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Offline 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650AD0-893E-4F12-9862-C190E6C91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576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video timeline, weak segments, slip events, report export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883E24-0443-4242-B053-51BD1BD5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577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FE7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55571F-898A-446A-BC3B-8605D0C5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577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307D85-370E-4E8B-8E81-26DF409E0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29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347F30-435F-431C-B085-7DE66FE8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914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info buttons and debug evidence for every score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75D8F3-051E-4E09-96B5-D9DCC7E4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57700"/>
            <a:ext cx="29527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0DFE7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0C60D6-5727-42A7-9EC7-20E45EAB6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57700"/>
            <a:ext cx="2952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95A856-CE7D-4674-A7FE-DBB974394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2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Privacy-first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117D0-6862-4476-A1E5-148B3BE3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1490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browser-local v1 path with optional stronger local server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973F11-2EC9-48AF-A4B1-C8357B5F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D33788-9827-4AFF-B4C9-E7B87F3D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13</a:t>
            </a:r>
          </a:p>
        </p:txBody>
      </p:sp>
    </p:spTree>
    <p:extLst>
      <p:ext uri="{BB962C8B-B14F-4D97-AF65-F5344CB8AC3E}">
        <p14:creationId xmlns:p14="http://schemas.microsoft.com/office/powerpoint/2010/main" val="1164972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A62D6-9501-49BB-BF22-93C10151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2112D0-58F0-4212-8FC4-1504D34FF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B9D33-4D36-4248-AD4E-428F0A69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TEAM IMPACT: XR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8CD3F-49A3-41FD-AB9E-9419B624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XR can use GripSense as a rapid hand-object interaction probe.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6AF374-A8AE-4AE6-8FAE-075324F2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Useful before headset integration, especially for markerless object affordance experiments and human-object interaction datasets.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D145B-DA97-4981-9F89-D4F5118E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C4058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aef1c24a14d68">
            <a:extLst>
              <a:ext uri="{96DAC541-7B7A-43D3-8B79-37D633B846F1}">
                <asvg:svgBlip xmlns:asvg="http://schemas.microsoft.com/office/drawing/2016/SVG/main" r:embed="R29ce3dde3c3449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23145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06CE1E-B1E5-4D5C-9CDD-3D20873D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396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Object-aware hand overlays for AR interaction prototypes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478F25-DAA1-459A-8960-2D6BFA1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C4058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d77baeea842e7">
            <a:extLst>
              <a:ext uri="{96DAC541-7B7A-43D3-8B79-37D633B846F1}">
                <asvg:svgBlip xmlns:asvg="http://schemas.microsoft.com/office/drawing/2016/SVG/main" r:embed="R16caf55716154ec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30003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754548-7326-402A-B6A2-BB043C55E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90850"/>
            <a:ext cx="396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Grip-state cues for controller-free object manipulation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ABAAC8-2384-4A65-B683-C2529807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623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C4058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7b847fb184717">
            <a:extLst>
              <a:ext uri="{96DAC541-7B7A-43D3-8B79-37D633B846F1}">
                <asvg:svgBlip xmlns:asvg="http://schemas.microsoft.com/office/drawing/2016/SVG/main" r:embed="R020a2bede95a48d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36861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A4CC9F-6F1F-4106-A403-F8FF66C1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396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Offline replay for comparing gestures across users/objects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42342B-6B40-4C7E-9509-F97CCDA2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48150"/>
            <a:ext cx="4476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A"/>
          </a:solidFill>
          <a:ln xmlns:a="http://schemas.openxmlformats.org/drawingml/2006/main" w="9525">
            <a:solidFill>
              <a:srgbClr val="2C4058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a085fec557428f">
            <a:extLst>
              <a:ext uri="{96DAC541-7B7A-43D3-8B79-37D633B846F1}">
                <asvg:svgBlip xmlns:asvg="http://schemas.microsoft.com/office/drawing/2016/SVG/main" r:embed="R64d64cb629fe48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0600" y="4371975"/>
            <a:ext cx="209550" cy="2095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119B2-DF29-421D-870F-0410A366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3962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Target-object gating to reduce false contextual 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0B9573-994B-4D79-91B1-90EA89CF9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3143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C40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76C81B-62CC-4B58-ACC8-E81679E0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565E3-ACB1-40E0-8166-E3F789CD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0030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Example XR experiments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503BE3-C2A8-4A0B-94B0-4CF1AD913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43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5B7FB4-5EA6-4F66-9449-9950BFDF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detect when a mug/tool is being held vs touched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840C1F-0C2D-4CCD-9D3E-07BD55D75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813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8FFFC9-7516-4425-9805-50792412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337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compare phone-side grip stability before gesture trigger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E8E33-AFBB-4EC1-8879-CDBE425B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EDA9C-0FB5-4318-B20E-D600AD65B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7190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collect annotated affordance data without markers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DA5B26-06C1-4ACF-8D44-938F04101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576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0EDFB6-DF1C-48DD-B920-23676C5A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10050"/>
            <a:ext cx="2362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test AR hint overlays around suggested grip points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DB4963-FF08-45C9-B36E-14507459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339C87-AD8E-47FE-AC5C-5753C6A6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14</a:t>
            </a:r>
          </a:p>
        </p:txBody>
      </p:sp>
    </p:spTree>
    <p:extLst>
      <p:ext uri="{BB962C8B-B14F-4D97-AF65-F5344CB8AC3E}">
        <p14:creationId xmlns:p14="http://schemas.microsoft.com/office/powerpoint/2010/main" val="135038710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CC6F58-181C-4AE1-B182-F686D090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3B8637-C606-4F8F-8BE0-CBCFB4AF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FB058D-FFB7-4E54-B1DC-26FF42FC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TEAM IMPACT: VISUAL INTELLIGENCE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88F45-A890-4E31-8050-B13CAF1C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Visual Intelligence gets a practical benchmark for RGB object-hand reasoning.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2CE22-7A35-4C47-95C7-9E29F3A3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The tool creates reusable examples of hard cases: occlusion, poor lighting, target confusion, empty-hand false positives, and object-in-motion tracking.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A18E61-DD06-4511-9AB1-47403493E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19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E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EA185E-5E5A-4001-8590-FFA8E336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D2DE73-AACA-4B53-9965-F5FA66C4A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05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Dataset creation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A8BBA-8999-4B4A-BCD8-42AB3A70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Generate structured samples with object labels, masks, grip states, motion states, and frame timelines.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802DF-5786-4D80-AD83-5DDF871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419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E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287A42-65E1-4F9E-9300-BB70B618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ED202-8B2B-47B1-95A7-7D62CC09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050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Model evaluation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D07E05-A89A-43B5-BEEE-DF361EEB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6289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Compare browser descriptors, ONNX embeddings, CLIP/DINO-style local servers, and segmentation/detection models.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94C714-B3A7-4E2D-9BEF-4EE93C80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19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E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0A9CC4-F84A-42A5-BCBC-DF6E7D5F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52850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C7D712-E2E3-49AF-A5CE-6158F25C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81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Failure mining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57EAC6-F93C-480F-B9F5-AEDE8205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053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Collect false positives/negatives as replayable cases for model improvement.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3066A2-A8A6-43FC-8C44-FDC34FF48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4191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954573-A392-4F40-91BD-DBBBF066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52850"/>
            <a:ext cx="4191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9101DB-90F3-4191-A1F8-BD6F6901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981450"/>
            <a:ext cx="2857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9CBA53-EDF6-4468-BB7B-6886DDA9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053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Score breakdown makes model behavior inspectable by engineers and product owners.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2748EC-8248-4049-9FD6-B2464E413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704F73-1D44-46C7-A1FE-C65FE211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15</a:t>
            </a:r>
          </a:p>
        </p:txBody>
      </p:sp>
    </p:spTree>
    <p:extLst>
      <p:ext uri="{BB962C8B-B14F-4D97-AF65-F5344CB8AC3E}">
        <p14:creationId xmlns:p14="http://schemas.microsoft.com/office/powerpoint/2010/main" val="1600378131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003DFE-ADDA-4E2C-B1CC-3AF98144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1B823-710F-484A-8E1B-4ACD4DFC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DBE9FB-817D-42C1-ABFF-5D0492C2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TEAM IMPACT: ROBOTICS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8BF833-74C2-448D-B58F-25DD8A0A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Robotics can turn human demonstrations into grip and manipulation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F609FB-9C57-4F26-9B89-81F1B641A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GripSense can help robotics teams study how people naturally hold objects before translating them to robot grasps, fixtures, or task policies.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A46447-1470-4C53-A32A-6F445D76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6DAF70-5448-466D-A3F3-410BA088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6695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5D9FB-F98A-4C9C-9BE8-CDA759D6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384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Human demo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30BEB-EFD0-4BEE-8674-76CF752C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574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D0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1D0DC"/>
                </a:solidFill>
                <a:latin typeface="Aptos"/>
                <a:ea typeface="Aptos"/>
                <a:cs typeface="Aptos"/>
              </a:rPr>
              <a:t>record object handling with webcam/offline video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6D9D7B-4FC2-4F13-8877-E7256AD4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52750"/>
            <a:ext cx="19050" cy="4191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5EE7F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E818F1-72BD-45CC-9B4E-E829719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C044B-DC55-4304-971D-ABF2B5399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9090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2687E-2A83-4EDC-8AAD-91728499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623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Grip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965A8A-40C2-4FA4-96E2-A7D4DBDA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8140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D0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1D0DC"/>
                </a:solidFill>
                <a:latin typeface="Aptos"/>
                <a:ea typeface="Aptos"/>
                <a:cs typeface="Aptos"/>
              </a:rPr>
              <a:t>extract stable/weak/slip intervals and suggested contact zones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A47A79-C9AE-48E9-87B1-E08725C6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076700"/>
            <a:ext cx="19050" cy="4191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86F6B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D4DDA3-C83E-4BF6-881F-51B60F8D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8953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7ECC1-8287-42A2-B420-45DE700D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14850"/>
            <a:ext cx="8953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0493ED-9E61-4BB4-9FB3-FF574273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8630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Robot insight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B1350-53AA-4507-B616-8B936126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705350"/>
            <a:ext cx="552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1D0D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1D0DC"/>
                </a:solidFill>
                <a:latin typeface="Aptos"/>
                <a:ea typeface="Aptos"/>
                <a:cs typeface="Aptos"/>
              </a:rPr>
              <a:t>inform grasp candidates, imitation learning labels, and manipulation tests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8d6f6e79f4e95">
            <a:extLst>
              <a:ext uri="{96DAC541-7B7A-43D3-8B79-37D633B846F1}">
                <asvg:svgBlip xmlns:asvg="http://schemas.microsoft.com/office/drawing/2016/SVG/main" r:embed="Rfcbf68b016cc44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0" y="2971800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5554C7-C9A2-4457-A22A-A1A23F87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2EBED7-1A00-44D6-99F7-79EF5962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16</a:t>
            </a:r>
          </a:p>
        </p:txBody>
      </p:sp>
    </p:spTree>
    <p:extLst>
      <p:ext uri="{BB962C8B-B14F-4D97-AF65-F5344CB8AC3E}">
        <p14:creationId xmlns:p14="http://schemas.microsoft.com/office/powerpoint/2010/main" val="183805941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DE26BF-F11D-4B19-B776-8392D00E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2CB55F-D4D4-4206-9CAE-ECB4683A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1FC9AB-AD79-41F1-AF9E-B9100F05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TEAM IMPACT: ON-DEVICE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F62156-72F4-4D21-BFE9-1A0F73D2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On-device teams get a privacy-first benchmark for deployable perception.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C67064-2424-4271-9058-FEE6E341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The current implementation keeps inference local in the browser, while the V4 interfaces are prepared for edge embeddings and model-compression experiments.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03E000-26A6-4D05-90C8-28E01D5B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7"/>
          </a:solidFill>
          <a:ln xmlns:a="http://schemas.openxmlformats.org/drawingml/2006/main" w="9525">
            <a:solidFill>
              <a:srgbClr val="2A3B5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0C6BFF-8353-4448-B866-5153BA25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4E6B32-03AF-479C-8482-B00F0FB4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431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RGB-only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D722E-A04D-4299-ACA1-814353C5A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03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A9B9C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A9B9C9"/>
                </a:solidFill>
                <a:latin typeface="Aptos"/>
                <a:ea typeface="Aptos"/>
                <a:cs typeface="Aptos"/>
              </a:rPr>
              <a:t>works before depth/sensors are available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8CFB62-4D79-4169-B63F-CFF6E85F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7"/>
          </a:solidFill>
          <a:ln xmlns:a="http://schemas.openxmlformats.org/drawingml/2006/main" w="9525">
            <a:solidFill>
              <a:srgbClr val="2A3B5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6F1DF1-ECFA-478F-AE70-C7250C2C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526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40CF7E-5E26-45C8-B1AE-B7A2D6BA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431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Local-first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8C4BA8-9F73-4145-941E-A08EF34EB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A9B9C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A9B9C9"/>
                </a:solidFill>
                <a:latin typeface="Aptos"/>
                <a:ea typeface="Aptos"/>
                <a:cs typeface="Aptos"/>
              </a:rPr>
              <a:t>no backend required for V4 prototype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8C57F7-29F5-4789-B900-4DB3B3DD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7"/>
          </a:solidFill>
          <a:ln xmlns:a="http://schemas.openxmlformats.org/drawingml/2006/main" w="9525">
            <a:solidFill>
              <a:srgbClr val="2A3B5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FEA29-B469-4E47-BDCB-D3DA86B2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526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2353B-5689-44FC-B4B5-4DA363DF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3431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Embedding-ready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7C6470-36BD-434D-A147-AC1C36EB3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003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A9B9C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A9B9C9"/>
                </a:solidFill>
                <a:latin typeface="Aptos"/>
                <a:ea typeface="Aptos"/>
                <a:cs typeface="Aptos"/>
              </a:rPr>
              <a:t>ONNX/local server descriptor path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597752-6A20-4359-81B7-9EF767F1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190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A27"/>
          </a:solidFill>
          <a:ln xmlns:a="http://schemas.openxmlformats.org/drawingml/2006/main" w="9525">
            <a:solidFill>
              <a:srgbClr val="2A3B5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B5EAE0-2689-4190-850C-1886C876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52650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5F30CD-7DD3-4D9F-9A78-284B191EE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343150"/>
            <a:ext cx="1847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Explainable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9FA71A-DA69-40B8-BBF0-7D9B3DE8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A9B9C9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A9B9C9"/>
                </a:solidFill>
                <a:latin typeface="Aptos"/>
                <a:ea typeface="Aptos"/>
                <a:cs typeface="Aptos"/>
              </a:rPr>
              <a:t>diagnostic scores map to modules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9E801-C95D-4263-8552-3A31941AC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933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DB8F1A-10F7-40CD-AB39-0E4DA09F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24300"/>
            <a:ext cx="933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D767B0-8847-4F26-873E-2C7EF618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33850"/>
            <a:ext cx="342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On-device research questions it can support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BBB3AC-8A97-4F6B-A1CF-60EF447C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57700"/>
            <a:ext cx="847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What descriptor size is enough? How many frames are needed for stable identity? What is the latency budget for grip guidance? Which failure cases require depth, IMU, or sensor fusion?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3DCD39-67CB-4BDE-9A7E-9A3E515E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116B16-F468-472D-B6CE-FFF9CC5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17</a:t>
            </a:r>
          </a:p>
        </p:txBody>
      </p:sp>
    </p:spTree>
    <p:extLst>
      <p:ext uri="{BB962C8B-B14F-4D97-AF65-F5344CB8AC3E}">
        <p14:creationId xmlns:p14="http://schemas.microsoft.com/office/powerpoint/2010/main" val="19331431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36BF6D-73A2-4430-BCDA-8100CF283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89595-006E-42CD-A6AE-51DB34B95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28966-856B-478A-BEC9-B3E69866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AX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1CD85-951C-4F74-99C1-A62E0D2A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The platform creates reusable leverage beyond one demo.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22EAF4-F4E0-479C-B38E-1321384B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GripSense can become a shared experimentation asset for product interaction, automation, model validation, and internal R&amp;D storytelling.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C893AA-309A-4CE6-A7F8-65531C7F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B40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8E48B-2D64-498E-ACC9-9DEFD94C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3AD3A-FE47-4005-85E9-3C41C84F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Faster experiments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FB8885-C4C0-420C-BA3B-3E73CB40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turn webcam tests into structured observations in minutes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01965F-9323-4842-ABD5-CEBEFDB3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33600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B40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489D61-F9CB-46D7-9D10-D315CD89A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33600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4A8D8-0AF1-4F90-BC2B-ABDB7911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43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Lower equipment cost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9C0746-D687-444E-A77B-1FC3DB20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47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start with RGB before depth rigs or smart objects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BE8CE-5937-470A-9D94-07AD24042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B40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251D7B-BCE9-4D23-82F7-2342394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33600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5503B9-FA32-4E83-9E01-9B5A0B87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431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Better datasets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A17FCD-AF75-427B-9301-E8A6A235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save object profiles, masks, examples, timelines, exports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E93BC5-4EA3-451D-B770-7265B9F71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B40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B6F5DF-1D8A-4A4F-882E-867072A0E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FDD425-54E7-4FB1-9C56-DCD0AD65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More honest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27DFC5-076E-4DC0-8BD1-94400095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672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uncertainty states prevent misleading high scores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7D4BC-64A4-4B48-A3F6-42BE9D7A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52850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B405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47982-87AF-4DC9-9013-FAA2C7016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3752850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8C4DD67-7A20-4AEB-B863-254CD12F4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62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Team reuse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364A24-C03C-42FB-98A1-597D4DECE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42672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same pipeline supports XR, VI, Robotics, and On-device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A24B5B-0ADB-453B-8325-A8697F9C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0003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B4058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C7940E-CB5B-45B1-B0F9-39971575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52850"/>
            <a:ext cx="30003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3EAA70-9073-4690-A86F-4DEC9642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62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1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21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Investor/IP signal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D1B287-B882-4229-9F0E-C7F18F84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67200"/>
            <a:ext cx="2476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novel object-first visual grip estimation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B52A9C-549F-424F-933A-C8B91A94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82D18E-E8B5-401B-87F4-B27A863F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18</a:t>
            </a:r>
          </a:p>
        </p:txBody>
      </p:sp>
    </p:spTree>
    <p:extLst>
      <p:ext uri="{BB962C8B-B14F-4D97-AF65-F5344CB8AC3E}">
        <p14:creationId xmlns:p14="http://schemas.microsoft.com/office/powerpoint/2010/main" val="106349688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30786D-AF1D-49FA-B250-68EEC2E9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53A5A-1AD4-47EA-A6E7-5ADAC1A5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44A59-E23E-4C16-B039-62CF1F6E0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NOVELTY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002FD-1AE4-44AC-B8D0-D3825228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The novelty is in the productized perception loop, not a single isolated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1DE3F3-4CD5-43CD-82F6-F577C2C8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GripSense combines target-object training, temporal identity, grip-mode scoring, and explainable diagnostics into one live/offline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76DE2-CA2D-4A23-B7A5-B87A2A2F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145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Target object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9ED2C-30EB-4503-8100-0FCB6DED9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62175"/>
            <a:ext cx="542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F7E5A-A6DF-4246-B730-EDB9DF6E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62175"/>
            <a:ext cx="4991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32C1FF-EBD3-47F9-B9D1-F07A120C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955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92%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6DC43-04FC-4FB6-AF75-8B15728F4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43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Temporal stability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79390F-6BED-47A7-A0AC-B4A288BB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90825"/>
            <a:ext cx="542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2E185E-D45A-4049-9AD0-CDF397F6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90825"/>
            <a:ext cx="4667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3FB14-C716-40E8-B858-61633642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86%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1990B9-3140-45DD-BDF8-DC0FBCA3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Grip-mode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F70A40-52E1-4F9C-B1D3-F284FAFBB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19475"/>
            <a:ext cx="542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09C90B-830E-4B1A-8A8D-4C3EF7EE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19475"/>
            <a:ext cx="423862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5822CC-CA81-4CC1-B0B0-CFC859312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78%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A1085E-9CD8-4BBC-96B7-6EC815867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005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Offline reports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A33A83-4D16-4758-94EB-71833927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542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567E58A-5F8E-4D4C-ACA1-AD1C9931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48125"/>
            <a:ext cx="380047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5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226139-022A-460A-9B5B-ACC6BEB9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8145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70%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74ACB3-A47A-4793-BEC9-01072B00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Sensor-free start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BB735-1800-4D06-8FA2-C45F68B9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429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E2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3BFE5CB-B7CE-455C-BE4E-3792CB81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76775"/>
            <a:ext cx="51625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E53764-AAE0-4DB9-B820-5D21C2A1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10100"/>
            <a:ext cx="666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95%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81F657-5870-45F7-A83A-5F1CF8DC1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1619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E2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4D0AA2-F757-4BA5-B41E-83E9B4A8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1526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8BDDC2-65D3-456A-8E23-41C9D506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238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Research direction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2E1E4-5E60-43A9-933C-8901EB8F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81300"/>
            <a:ext cx="1200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Move from RGB visual stability to calibrated grip confidence by adding embeddings, depth, IMU, pressure sensors, or smart-object data when needed.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AC1BB5-977E-4FF3-9FDD-68672B334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DF2A0A-2A16-458C-8ED4-BC271A0E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19</a:t>
            </a:r>
          </a:p>
        </p:txBody>
      </p:sp>
    </p:spTree>
    <p:extLst>
      <p:ext uri="{BB962C8B-B14F-4D97-AF65-F5344CB8AC3E}">
        <p14:creationId xmlns:p14="http://schemas.microsoft.com/office/powerpoint/2010/main" val="1313313268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D332DB-A14B-40EA-94E9-4E1DC53D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A543EB-A20A-4329-8BD0-BB13621A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F9F839-CF01-4D7B-A75F-05F49E18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LIMITATIONS AND 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08A8BA-B482-46C2-828B-96ACF3E5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The system is useful because it is honest about what RGB can and cannot know.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0038C3-9CF6-47E7-9706-F960644C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The current app estimates visual stability; it does not directly measure physical force. That boundary keeps research conclusions defensible.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5CC05-D06E-4424-84C2-023EE1E2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AE796-C79D-49DE-9AF8-0C983ABF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764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1F50A7-091F-416B-9316-7FB824C0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RGB limitation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6F1A0-97F7-4A28-AD97-C58A9AEC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cannot measure real pressure, torque, or hidden contact force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5E7A6-9E01-4DE0-AF47-89F4FA6C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3CF38A-4F55-4000-BF3C-6F469194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D7D876-8FAA-40FB-A7CC-5380CBFA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527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Occlusion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442049-C5FA-4B46-A90A-F8789C1EC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527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hidden fingers/object surfaces reduce evidence quality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07573-BA2E-4D70-B25F-F056EFC7C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24859-211E-4F32-9A7A-B9B257C5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9137F-F207-454A-BC0B-D6753290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Lighting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B07967-4895-4BEA-A415-3BA188D0A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9570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glare and low light can affect descriptors and landmarks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E4E6F7-5918-40B9-A749-1862D72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000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2F3849-D9D6-4450-873E-07C5112C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05300"/>
            <a:ext cx="400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B7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D3B8F1-0A2B-4EC6-B1D6-DFA318767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1428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013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Object ambiguity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010278-DEE5-4C64-85BA-1B143E19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386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B9C8D5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B9C8D5"/>
                </a:solidFill>
                <a:latin typeface="Aptos"/>
                <a:ea typeface="Aptos"/>
                <a:cs typeface="Aptos"/>
              </a:rPr>
              <a:t>similar products need stronger embeddings or negatives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4EAB1-AFFE-4B27-AE18-BE9A1ACF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43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E10380-C8C4-45FA-93DA-D22F14AFE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09850"/>
            <a:ext cx="19050" cy="6286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9647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7A4E3F-7B38-47FB-942E-502660779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247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Near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C0DCE4-7E61-4530-9922-C0F23645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5717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FD0D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FD0DC"/>
                </a:solidFill>
                <a:latin typeface="Aptos"/>
                <a:ea typeface="Aptos"/>
                <a:cs typeface="Aptos"/>
              </a:rPr>
              <a:t>V4 object profiles, better motion stability, offline reports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52B7B5-EED5-4E52-9BE8-EBBC1DD10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961436-32BA-433E-BAED-F2E8F2FD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52850"/>
            <a:ext cx="19050" cy="6286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9647D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24C323-F544-43E0-9FC0-0E9EA9EA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90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D7DAD6-57F1-4FF7-AEB9-D49A0014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147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FD0D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FD0DC"/>
                </a:solidFill>
                <a:latin typeface="Aptos"/>
                <a:ea typeface="Aptos"/>
                <a:cs typeface="Aptos"/>
              </a:rPr>
              <a:t>browser ONNX embeddings or local CLIP/DINO server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10ED59-B6D4-4553-AC23-D50F3562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291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9417DF3-AAC4-4A6E-852E-FCB3AD68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95850"/>
            <a:ext cx="19050" cy="6286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9647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E1F472-F599-4DBA-8794-B90875954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33900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Future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8F81A6-DA8F-49E2-A28D-99AEF10BB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57750"/>
            <a:ext cx="342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BFD0DC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BFD0DC"/>
                </a:solidFill>
                <a:latin typeface="Aptos"/>
                <a:ea typeface="Aptos"/>
                <a:cs typeface="Aptos"/>
              </a:rPr>
              <a:t>depth, IMU, pressure sensors, gloves, smart objects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54432E-0B53-49E5-88A4-85673B5F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B5F71B-2251-4677-B136-8E271A2A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20</a:t>
            </a:r>
          </a:p>
        </p:txBody>
      </p:sp>
    </p:spTree>
    <p:extLst>
      <p:ext uri="{BB962C8B-B14F-4D97-AF65-F5344CB8AC3E}">
        <p14:creationId xmlns:p14="http://schemas.microsoft.com/office/powerpoint/2010/main" val="11863207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0521E8-27B2-48C3-B9CA-EC5FE2CB9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0D1BD1-032B-4C2F-8BC0-78829709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8FA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1796D7-D4D8-4B71-9B50-837BCDB9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ADOPTION PLAN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A0BEEC-820F-4DDD-B8DA-CD54C6E7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071018"/>
                </a:solidFill>
                <a:latin typeface="Aptos Display"/>
                <a:ea typeface="Aptos Display"/>
                <a:cs typeface="Aptos Display"/>
              </a:rPr>
              <a:t>A practical 90-day AX transformation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C501C-BC30-467E-B600-5013984C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4E6176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4E6176"/>
                </a:solidFill>
                <a:latin typeface="Aptos"/>
                <a:ea typeface="Aptos"/>
                <a:cs typeface="Aptos"/>
              </a:rPr>
              <a:t>Use the prototype to create measurable internal value quickly, then harden the perception stack where teams show demand.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BFFFE-8B5C-4FD2-91AB-0C21B02D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E0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17BD2-AAE1-4329-B1F7-4DA01FD8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E8A13-D678-428A-9B22-9AA938937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38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0-30 days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D9826-909E-4320-9C53-D9A082D2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Internal demo and team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38C05F-E5FD-4237-8636-8A371A9F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909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XR/VI/Robotics/On-device teams test common objects and log failure cases.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75A46A-17F4-4152-8D37-288D4F4C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907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E0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AB266-A8F9-49AC-BFD3-5CD38A1C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1907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EFCB0B-1E41-4BB3-A1D7-033210BF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438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31-60 days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E5114-8E05-4971-B3B4-C8DC9B0AF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95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Dataset and model bake-off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AF7A0-5B84-4C9E-A2D6-4CBF87C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909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Compare browser descriptor with ONNX/local embedding server on shared scenarios.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129EF0-86FE-455F-B4E1-444C68C03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048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E0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ACDD68-570D-42F0-9B2A-EFCD6D256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DE73B-CB88-442E-A16B-1B6309F7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B8FA4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8FA4"/>
                </a:solidFill>
                <a:latin typeface="Aptos"/>
                <a:ea typeface="Aptos"/>
                <a:cs typeface="Aptos"/>
              </a:rPr>
              <a:t>61-90 days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4796A6-74AE-43E8-923A-3B0166D8B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95600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Pilot workflows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B586D9-5913-4160-948D-3019CEFB4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909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90" b="0">
                <a:solidFill>
                  <a:srgbClr val="526578"/>
                </a:solidFill>
                <a:latin typeface="Aptos"/>
                <a:ea typeface="Aptos"/>
                <a:cs typeface="Aptos"/>
              </a:defRPr>
            </a:pPr>
            <a:r>
              <a:rPr sz="990" b="0">
                <a:solidFill>
                  <a:srgbClr val="526578"/>
                </a:solidFill>
                <a:latin typeface="Aptos"/>
                <a:ea typeface="Aptos"/>
                <a:cs typeface="Aptos"/>
              </a:rPr>
              <a:t>Offline reports, trained object registry, team-specific dashboards, acceptance criteria.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8031DD-8978-4D0F-8D57-7EDDF960B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95850"/>
            <a:ext cx="9258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E0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B8338-4D5B-430B-8BBF-BBC1044E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895850"/>
            <a:ext cx="9258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21527-58C7-4FC4-A7EA-6FAD5784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48250"/>
            <a:ext cx="866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01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71018"/>
                </a:solidFill>
                <a:latin typeface="Aptos"/>
                <a:ea typeface="Aptos"/>
                <a:cs typeface="Aptos"/>
              </a:rPr>
              <a:t>Success metrics: false-positive reduction, stable detection latency, object-profile robustness, offline report completion rate, and number of team reuse cases.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3BE51C-1C7F-448C-8659-858398E3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28E788-EA3D-46F5-AB96-6196C6DB2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21</a:t>
            </a:r>
          </a:p>
        </p:txBody>
      </p:sp>
    </p:spTree>
    <p:extLst>
      <p:ext uri="{BB962C8B-B14F-4D97-AF65-F5344CB8AC3E}">
        <p14:creationId xmlns:p14="http://schemas.microsoft.com/office/powerpoint/2010/main" val="199482981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6B5EF-8AE2-4FC0-A1B1-8C2D2E900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BCC3C8-9600-4431-8AEF-E20FA6EC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191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B7BC11-CBC1-4E90-B65C-2ACF28BD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514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LIVE DEMO AND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7041D-E3D8-469D-9D9B-5BF759EF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28650"/>
            <a:ext cx="7524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6FBFF"/>
                </a:solidFill>
                <a:latin typeface="Aptos Display"/>
                <a:ea typeface="Aptos Display"/>
                <a:cs typeface="Aptos Display"/>
              </a:rPr>
              <a:t>Demo flow: train target object, enable it, move it, then review live and offline grip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98651-3DEA-43CF-8AA9-45313BF23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7239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B9C8D8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B9C8D8"/>
                </a:solidFill>
                <a:latin typeface="Aptos"/>
                <a:ea typeface="Aptos"/>
                <a:cs typeface="Aptos"/>
              </a:rPr>
              <a:t>This slide intentionally leaves a clean placeholder for the final screen-recorded demo video.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3FB7E1-BD35-415C-8353-AC9A3C5E1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81200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21D"/>
          </a:solidFill>
          <a:ln xmlns:a="http://schemas.openxmlformats.org/drawingml/2006/main" w="9525">
            <a:solidFill>
              <a:srgbClr val="34506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D37AE-80A5-49DE-A3C9-4635F9E4C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48768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4E6B88"/>
            </a:solidFill>
            <a:prstDash val="dash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F36DBE-746F-475A-81D0-37C68DDF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76600"/>
            <a:ext cx="438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INSERT LIVE DEMO VIDEO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A4BBF-884A-4D50-B673-F84867A0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3886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7C6D4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7C6D4"/>
                </a:solidFill>
                <a:latin typeface="Aptos"/>
                <a:ea typeface="Aptos"/>
                <a:cs typeface="Aptos"/>
              </a:rPr>
              <a:t>Recommended: 45-75 seconds showing object training, target detection, grip score, motion stability, and offline export.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CDC033-5DC1-4565-B863-8E7F3440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314325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29"/>
          </a:solidFill>
          <a:ln xmlns:a="http://schemas.openxmlformats.org/drawingml/2006/main" w="9525">
            <a:solidFill>
              <a:srgbClr val="2D405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E54FC2-7461-49F5-AC33-B6C6E1B5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3143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94B59-4BDC-4782-84F8-31010D30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431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6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6FBFF"/>
                </a:solidFill>
                <a:latin typeface="Aptos"/>
                <a:ea typeface="Aptos"/>
                <a:cs typeface="Aptos"/>
              </a:rPr>
              <a:t>Submission ask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2D00E6-D6F8-404F-9132-8D258F3C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9051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7DE3EE-40A4-4BBC-A0B0-EC774538E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8575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Approve AX transformation submission as an internal reusable R&amp;D tool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011DF4-3009-4888-A78B-9F9FD6FB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623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1F462-2C34-4828-B8F8-E42AC9B88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147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Run pilot with XR, Visual Intelligence, Robotics, and On-device AI teams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4C618-0075-4E36-A2FA-C4FF56E61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5D07F4-6A2E-4964-92DC-23D9A5557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7719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Collect shared test objects and failure cases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F4F503-F3C4-4E22-B8EC-0EF1CF44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76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6F6B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51D6F9-CE56-4324-8B9E-7233469E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291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45" b="0">
                <a:solidFill>
                  <a:srgbClr val="DCE8F2"/>
                </a:solidFill>
                <a:latin typeface="Aptos"/>
                <a:ea typeface="Aptos"/>
                <a:cs typeface="Aptos"/>
              </a:defRPr>
            </a:pPr>
            <a:r>
              <a:rPr sz="945" b="0">
                <a:solidFill>
                  <a:srgbClr val="DCE8F2"/>
                </a:solidFill>
                <a:latin typeface="Aptos"/>
                <a:ea typeface="Aptos"/>
                <a:cs typeface="Aptos"/>
              </a:rPr>
              <a:t>Evaluate embedding-based V4/V5 upgrade path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E1097-DEF3-42DE-8271-A25E73E41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219700"/>
            <a:ext cx="285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EE7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EE7FF"/>
                </a:solidFill>
                <a:latin typeface="Aptos"/>
                <a:ea typeface="Aptos"/>
                <a:cs typeface="Aptos"/>
              </a:rPr>
              <a:t>Inventor: Dewanshu Haswani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C20E6C-B5AC-4BB3-8F78-FB879D80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38900"/>
            <a:ext cx="1257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E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5F1EE-7211-4FDA-BAF3-BDE2CFDA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630555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8395A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8395A8"/>
                </a:solidFill>
                <a:latin typeface="Aptos"/>
                <a:ea typeface="Aptos"/>
                <a:cs typeface="Aptos"/>
              </a:rPr>
              <a:t>GripSense RGB | AX Transformation | SRIB | 22</a:t>
            </a:r>
          </a:p>
        </p:txBody>
      </p:sp>
    </p:spTree>
    <p:extLst>
      <p:ext uri="{BB962C8B-B14F-4D97-AF65-F5344CB8AC3E}">
        <p14:creationId xmlns:p14="http://schemas.microsoft.com/office/powerpoint/2010/main" val="804455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2026-06-04T20:24:37.0550000Z</dcterms:created>
  <dcterms:modified xsi:type="dcterms:W3CDTF">2026-06-04T20:24:37.0550000Z</dcterms:modified>
</coreProperties>
</file>