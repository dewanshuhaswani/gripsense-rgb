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6deea2414b490a" /><Relationship Type="http://schemas.openxmlformats.org/officeDocument/2006/relationships/extended-properties" Target="/docProps/app.xml" Id="R701fbc7ac7b9482e" /><Relationship Type="http://schemas.openxmlformats.org/officeDocument/2006/relationships/officeDocument" Target="/ppt/presentation.xml" Id="R624842291f944e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a649144a24ca2"/>
  </p:sldMasterIdLst>
  <p:notesMasterIdLst>
    <p:notesMasterId xmlns:r="http://schemas.openxmlformats.org/officeDocument/2006/relationships" r:id="R6aa2a27c134147f8"/>
  </p:notesMasterIdLst>
  <p:sldIdLst>
    <p:sldId xmlns:r="http://schemas.openxmlformats.org/officeDocument/2006/relationships" id="256" r:id="R1bbe38ff12ae4064"/>
    <p:sldId xmlns:r="http://schemas.openxmlformats.org/officeDocument/2006/relationships" id="257" r:id="R10863d3d1c7a420e"/>
    <p:sldId xmlns:r="http://schemas.openxmlformats.org/officeDocument/2006/relationships" id="258" r:id="R5342b71133b742a6"/>
    <p:sldId xmlns:r="http://schemas.openxmlformats.org/officeDocument/2006/relationships" id="259" r:id="Ra8975e3581ec4538"/>
    <p:sldId xmlns:r="http://schemas.openxmlformats.org/officeDocument/2006/relationships" id="260" r:id="R662f84ef26784c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41403223464c5c" /><Relationship Type="http://schemas.openxmlformats.org/officeDocument/2006/relationships/slideMaster" Target="/ppt/slideMasters/slideMaster1.xml" Id="Rf4aa649144a24ca2" /><Relationship Type="http://schemas.openxmlformats.org/officeDocument/2006/relationships/notesMaster" Target="/ppt/notesMasters/notesMaster1.xml" Id="R6aa2a27c134147f8" /><Relationship Type="http://schemas.openxmlformats.org/officeDocument/2006/relationships/presProps" Target="/ppt/presProps.xml" Id="R924839bf78ac489a" /><Relationship Type="http://schemas.openxmlformats.org/officeDocument/2006/relationships/tableStyles" Target="/ppt/tableStyles.xml" Id="R387c3e088676439b" /><Relationship Type="http://schemas.openxmlformats.org/officeDocument/2006/relationships/slide" Target="/ppt/slides/slide1.xml" Id="R1bbe38ff12ae4064" /><Relationship Type="http://schemas.openxmlformats.org/officeDocument/2006/relationships/slide" Target="/ppt/slides/slide2.xml" Id="R10863d3d1c7a420e" /><Relationship Type="http://schemas.openxmlformats.org/officeDocument/2006/relationships/slide" Target="/ppt/slides/slide3.xml" Id="R5342b71133b742a6" /><Relationship Type="http://schemas.openxmlformats.org/officeDocument/2006/relationships/slide" Target="/ppt/slides/slide4.xml" Id="Ra8975e3581ec4538" /><Relationship Type="http://schemas.openxmlformats.org/officeDocument/2006/relationships/slide" Target="/ppt/slides/slide5.xml" Id="R662f84ef26784c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d0ccdef7074b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3cdca848c1417a" /><Relationship Type="http://schemas.openxmlformats.org/officeDocument/2006/relationships/notesMaster" Target="/ppt/notesMasters/notesMaster1.xml" Id="R7e1145a621d84a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0838075de3465b" /><Relationship Type="http://schemas.openxmlformats.org/officeDocument/2006/relationships/notesMaster" Target="/ppt/notesMasters/notesMaster1.xml" Id="Ree1c8f8b681b46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dc8778b175426c" /><Relationship Type="http://schemas.openxmlformats.org/officeDocument/2006/relationships/notesMaster" Target="/ppt/notesMasters/notesMaster1.xml" Id="R67438ae6749c42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981dd49e0e430d" /><Relationship Type="http://schemas.openxmlformats.org/officeDocument/2006/relationships/notesMaster" Target="/ppt/notesMasters/notesMaster1.xml" Id="Rfc754c15c28242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84b11df0f94344" /><Relationship Type="http://schemas.openxmlformats.org/officeDocument/2006/relationships/notesMaster" Target="/ppt/notesMasters/notesMaster1.xml" Id="R42efd53b399e43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048a411b044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3fa8135c4f4988" /><Relationship Type="http://schemas.openxmlformats.org/officeDocument/2006/relationships/slideLayout" Target="/ppt/slideLayouts/slideLayout1.xml" Id="R6e181b9d69ee42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181b9d69ee42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2c5e7395f4eef" /><Relationship Type="http://schemas.openxmlformats.org/officeDocument/2006/relationships/notesSlide" Target="/ppt/notesSlides/notesSlide1.xml" Id="R2d999cb5c05d43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8cd3b985c40d7" /><Relationship Type="http://schemas.openxmlformats.org/officeDocument/2006/relationships/notesSlide" Target="/ppt/notesSlides/notesSlide2.xml" Id="R53d9e672ce724d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d5e2f566a4737" /><Relationship Type="http://schemas.openxmlformats.org/officeDocument/2006/relationships/notesSlide" Target="/ppt/notesSlides/notesSlide3.xml" Id="R9bec78059caf4e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a8c3fdf124541" /><Relationship Type="http://schemas.openxmlformats.org/officeDocument/2006/relationships/notesSlide" Target="/ppt/notesSlides/notesSlide4.xml" Id="Rff06d8df84d542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7a5cadc7c4c67" /><Relationship Type="http://schemas.openxmlformats.org/officeDocument/2006/relationships/notesSlide" Target="/ppt/notesSlides/notesSlide5.xml" Id="R6846b7d88bb043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E24E3-2D84-465D-A712-A67ED95B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GripSense RGB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804D7-D8C5-4AB0-951F-0837B0C0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7C7"/>
                </a:solidFill>
              </a:defRPr>
            </a:pPr>
            <a:r>
              <a:rPr sz="1875" b="0">
                <a:solidFill>
                  <a:srgbClr val="AAB7C7"/>
                </a:solidFill>
              </a:rPr>
              <a:t>Vision-based grip analysis for live camera and offline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34D8D-00F8-4DF3-96A5-B885A930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8200"/>
            <a:ext cx="4252913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1523"/>
          </a:solidFill>
          <a:ln xmlns:a="http://schemas.openxmlformats.org/drawingml/2006/main" w="11430">
            <a:solidFill>
              <a:srgbClr val="2634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B23B3-B1CF-4B35-B2F9-0EFC7375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019175"/>
            <a:ext cx="3890963" cy="2895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826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25179-1AB9-48D2-A1EE-A764FF9C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194" y="1399223"/>
            <a:ext cx="1194435" cy="108585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B71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23D38-B883-4A5F-BD6C-074A6F84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535" y="1706880"/>
            <a:ext cx="1067753" cy="416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8" b="1">
                <a:solidFill>
                  <a:srgbClr val="FB7185"/>
                </a:solidFill>
              </a:defRPr>
            </a:pPr>
            <a:r>
              <a:rPr sz="998" b="1">
                <a:solidFill>
                  <a:srgbClr val="FB7185"/>
                </a:solidFill>
              </a:rPr>
              <a:t>rejected</a:t>
            </a:r>
          </a:p>
          <a:p xmlns:a="http://schemas.openxmlformats.org/drawingml/2006/main">
            <a:pPr algn="ctr">
              <a:defRPr sz="998" b="1">
                <a:solidFill>
                  <a:srgbClr val="FB7185"/>
                </a:solidFill>
              </a:defRPr>
            </a:pPr>
            <a:r>
              <a:rPr sz="998" b="1">
                <a:solidFill>
                  <a:srgbClr val="FB7185"/>
                </a:solidFill>
              </a:rPr>
              <a:t>background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BB881-0B59-4148-A85D-8D98178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481" y="1525905"/>
            <a:ext cx="1067753" cy="1900238"/>
          </a:xfrm>
          <a:prstGeom xmlns:a="http://schemas.openxmlformats.org/drawingml/2006/main" prst="roundRect">
            <a:avLst>
              <a:gd name="adj" fmla="val 10705"/>
            </a:avLst>
          </a:prstGeom>
          <a:solidFill xmlns:a="http://schemas.openxmlformats.org/drawingml/2006/main">
            <a:srgbClr val="242B36"/>
          </a:solidFill>
          <a:ln xmlns:a="http://schemas.openxmlformats.org/drawingml/2006/main" w="2857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A0C9-9E9D-419D-829F-9B59622D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8678" y="1363028"/>
            <a:ext cx="1719263" cy="2334578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4ADE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655E0-516D-4E5A-9637-3C9E539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172778"/>
            <a:ext cx="-416243" cy="-633412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E9A60-892E-48A1-9D7E-443F4E51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2539365"/>
            <a:ext cx="-126682" cy="-524828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3F97B-7177-4E0B-A65D-28F1E590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2014538"/>
            <a:ext cx="407194" cy="597217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AE210-E89B-435E-B1BF-156DEDED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431" y="2611755"/>
            <a:ext cx="361950" cy="-533876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A9517-F1E2-4C77-8DAB-087DC7D8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381" y="2077879"/>
            <a:ext cx="-153829" cy="69675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AB828-A136-4D7B-B104-EABF3F42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3553" y="2774632"/>
            <a:ext cx="542925" cy="-425291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EAE11-938B-4465-AEE1-B50243A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478" y="2349341"/>
            <a:ext cx="-416242" cy="597218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D6923-E367-4D82-A830-B47CB0F9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235" y="2946559"/>
            <a:ext cx="633413" cy="-63341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5C6B5-60CC-40EC-8F22-F63FCCF3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648" y="2883218"/>
            <a:ext cx="-506730" cy="307658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9A36B-E0B7-4D25-B887-A72F172C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918" y="3190875"/>
            <a:ext cx="434340" cy="28956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22001-A600-45FA-A993-E2C3034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258" y="3480435"/>
            <a:ext cx="-760095" cy="-307657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22FA6-8A94-44FF-9F7D-6DC43AB5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821" y="3109436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CCC85-A514-4156-AF64-F0320F3E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579" y="2476024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2A0A8-34BF-4D98-9DC0-6A9B68A0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896" y="1951196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EC81D-8AE4-4790-8F35-17E607A3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90" y="2548414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0EF25-0C41-494A-A967-A6BBCDA3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14538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AA2E0-50DE-48AF-B3C5-B59E5C1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211" y="2711291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9E3F95-CD86-4C2C-822D-03D2772E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136" y="2286000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D0767-E214-444A-BAF7-4FDE76FC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894" y="2883218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5C2912-C1C9-4CA5-AECE-692AB2B5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306" y="2819876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E8D754-A6F0-41A8-9B95-A27DFA6E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576" y="3127534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6EF8C5-788E-4165-997E-E5531E31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916" y="3417094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FE1D6-7F62-45CE-A4AA-F4CD19A5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821" y="3109436"/>
            <a:ext cx="126682" cy="126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C11E43-D161-4860-8B98-8AC4F971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774632"/>
            <a:ext cx="307658" cy="3076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FACC1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A8D077-7920-4DE2-BA8D-EF2E3E07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2810828"/>
            <a:ext cx="65151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6" b="1">
                <a:solidFill>
                  <a:srgbClr val="FACC15"/>
                </a:solidFill>
              </a:defRPr>
            </a:pPr>
            <a:r>
              <a:rPr sz="926" b="1">
                <a:solidFill>
                  <a:srgbClr val="FACC15"/>
                </a:solidFill>
              </a:rPr>
              <a:t>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CEEF73-0266-4B2E-BEA2-369347D2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EE3DE5-614E-4DF1-B603-EBCE2935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What it does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46EA3F-3506-4D94-BE15-802F66E0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4ADE8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87A4F9-7111-4C4C-984F-BB79F254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7"/>
                </a:solidFill>
              </a:defRPr>
            </a:pPr>
            <a:r>
              <a:rPr sz="1350" b="0">
                <a:solidFill>
                  <a:srgbClr val="AAB7C7"/>
                </a:solidFill>
              </a:rPr>
              <a:t>Detects whether an object is actually in the hand.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CCCF70-8274-4F19-BD86-06DA2663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FAE588-79AE-4506-A4D8-2B5610F6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7"/>
                </a:solidFill>
              </a:defRPr>
            </a:pPr>
            <a:r>
              <a:rPr sz="1350" b="0">
                <a:solidFill>
                  <a:srgbClr val="AAB7C7"/>
                </a:solidFill>
              </a:rPr>
              <a:t>Scores grip using object evidence plus hand posture.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D05D1F-B097-4A2E-A977-5AD60E37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7650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712D5D-8E67-4120-BA76-F704478A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Current focus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B2AA59-14CF-451E-86AD-F53C2FB0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FACC1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2D265D-D7D3-49BD-98DD-65214F74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813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7"/>
                </a:solidFill>
              </a:defRPr>
            </a:pPr>
            <a:r>
              <a:rPr sz="1350" b="0">
                <a:solidFill>
                  <a:srgbClr val="AAB7C7"/>
                </a:solidFill>
              </a:rPr>
              <a:t>V13: reduce false locks on tables and cubicle panels.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D020EB-E4FF-4FB7-A898-03897142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solidFill>
              <a:srgbClr val="FB923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2BE6DA-DC99-4C6F-85AD-A7163E2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862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7"/>
                </a:solidFill>
              </a:defRPr>
            </a:pPr>
            <a:r>
              <a:rPr sz="1350" b="0">
                <a:solidFill>
                  <a:srgbClr val="AAB7C7"/>
                </a:solidFill>
              </a:rPr>
              <a:t>YOLO Max offline: stricter object-in-hand scoring.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89A7CF-F3B8-46BA-9F46-33948248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1725"/>
          </a:solidFill>
          <a:ln xmlns:a="http://schemas.openxmlformats.org/drawingml/2006/main" w="11430">
            <a:solidFill>
              <a:srgbClr val="67E8F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327502-4106-48CA-9014-C269AA3F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Live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14CB12-D408-46A9-A235-802ACC72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1238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1725"/>
          </a:solidFill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2CDC7B-C60C-4B12-B5DF-118881BA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01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ADE80"/>
                </a:solidFill>
              </a:defRPr>
            </a:pPr>
            <a:r>
              <a:rPr sz="1125" b="1">
                <a:solidFill>
                  <a:srgbClr val="4ADE80"/>
                </a:solidFill>
              </a:rPr>
              <a:t>Offline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AC5EA3-5AB1-4B7B-A69E-1A0EABA5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1238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1725"/>
          </a:solidFill>
          <a:ln xmlns:a="http://schemas.openxmlformats.org/drawingml/2006/main" w="11430">
            <a:solidFill>
              <a:srgbClr val="FACC1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8A1477-41D0-4116-8B59-B6C1BC86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01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ACC15"/>
                </a:solidFill>
              </a:defRPr>
            </a:pPr>
            <a:r>
              <a:rPr sz="1125" b="1">
                <a:solidFill>
                  <a:srgbClr val="FACC15"/>
                </a:solidFill>
              </a:rPr>
              <a:t>Labels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E7AD0F-1973-4C89-8B50-5A0EE34B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A"/>
                </a:solidFill>
              </a:defRPr>
            </a:pPr>
            <a:r>
              <a:rPr sz="975" b="0">
                <a:solidFill>
                  <a:srgbClr val="7890AA"/>
                </a:solidFill>
              </a:rPr>
              <a:t>GripSense RGB / 1</a:t>
            </a:r>
          </a:p>
        </p:txBody>
      </p:sp>
    </p:spTree>
    <p:extLst>
      <p:ext uri="{BB962C8B-B14F-4D97-AF65-F5344CB8AC3E}">
        <p14:creationId xmlns:p14="http://schemas.microsoft.com/office/powerpoint/2010/main" val="944157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EEA300-2079-4992-8941-14AD40F1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61154-9E28-4F7C-995D-D4C274C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</a:defRPr>
            </a:pPr>
            <a:r>
              <a:rPr sz="3750" b="1">
                <a:solidFill>
                  <a:srgbClr val="F8FAFC"/>
                </a:solidFill>
              </a:rPr>
              <a:t>Grip is not hand closure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5019A-2FA8-4EF0-9A85-C7AA3669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7C7"/>
                </a:solidFill>
              </a:defRPr>
            </a:pPr>
            <a:r>
              <a:rPr sz="1575" b="0">
                <a:solidFill>
                  <a:srgbClr val="AAB7C7"/>
                </a:solidFill>
              </a:rPr>
              <a:t>The system combines hand geometry with detector-backed object evidence before it allows a grip label.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E030D-E29A-439D-A8B8-14F05AE3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9D1A4-7CD7-439E-994F-606FFB79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7E8F9"/>
                </a:solidFill>
              </a:defRPr>
            </a:pPr>
            <a:r>
              <a:rPr sz="3300" b="1">
                <a:solidFill>
                  <a:srgbClr val="67E8F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248A3-3807-4C58-A57C-18C2585F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Frame 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3578A-2A67-4ACB-A8ED-B569993A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Live webcam frames or uploaded video frames are sampled.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3FC5B-C7BC-4AAB-B336-C54B343C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44D6E-D7EC-46D8-9674-F93E099F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01333-0FFE-4A37-9174-B88C9682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7E8F9"/>
                </a:solidFill>
              </a:defRPr>
            </a:pPr>
            <a:r>
              <a:rPr sz="3300" b="1">
                <a:solidFill>
                  <a:srgbClr val="67E8F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639EC-322F-45DC-9BE6-6E7AD75A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Hand landmarks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62544-2E3F-4C0A-9F7F-BCC26F36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The hand corridor, fingertips, thumb, palm, and closure are estimated.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3BEE7-4CD8-4AA5-9F2C-31FDC855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7190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DC7D9-4340-4C69-8DB2-93CEC6AC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717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E25B0-5562-46DC-83F6-C618E7A4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7E8F9"/>
                </a:solidFill>
              </a:defRPr>
            </a:pPr>
            <a:r>
              <a:rPr sz="3300" b="1">
                <a:solidFill>
                  <a:srgbClr val="67E8F9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6C371-40C0-413B-9D68-01F52294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Object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03326-2553-4321-92C2-4D419028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862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YOLO / RF-DETR evidence proposes non-person object regions.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A59A6-6851-44B7-AF08-75815583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7190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21D87-106A-4112-9890-EF1AFB0F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52235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B47CF-E218-487E-AE43-B5ABC7AE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ADE80"/>
                </a:solidFill>
              </a:defRPr>
            </a:pPr>
            <a:r>
              <a:rPr sz="3300" b="1">
                <a:solidFill>
                  <a:srgbClr val="4ADE80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1CC84-16B5-4281-AB1C-9527A1F4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Contact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DC6C1-60C2-4C4D-B813-12CCC3C0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Mask/box overlap, proximity, continuity, and object stability are checked.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964AB-AAF4-4EB7-AF91-EACEA3D8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7190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E4DDBE-11BD-47B5-82ED-024974D1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9586C-CE51-43F5-91CE-337DD325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7E8F9"/>
                </a:solidFill>
              </a:defRPr>
            </a:pPr>
            <a:r>
              <a:rPr sz="3300" b="1">
                <a:solidFill>
                  <a:srgbClr val="67E8F9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A2881-C11C-4158-AB33-E485B506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Grip label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0A2CC-F048-4EC0-8BEF-44F708E3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862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No grip, mild, moderate, or strong is shown only after object-in-hand checks.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EB94A-2448-4677-8718-276E5537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A"/>
                </a:solidFill>
              </a:defRPr>
            </a:pPr>
            <a:r>
              <a:rPr sz="975" b="0">
                <a:solidFill>
                  <a:srgbClr val="7890AA"/>
                </a:solidFill>
              </a:rPr>
              <a:t>GripSense RGB / 2</a:t>
            </a:r>
          </a:p>
        </p:txBody>
      </p:sp>
    </p:spTree>
    <p:extLst>
      <p:ext uri="{BB962C8B-B14F-4D97-AF65-F5344CB8AC3E}">
        <p14:creationId xmlns:p14="http://schemas.microsoft.com/office/powerpoint/2010/main" val="1447015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37769-9A18-486B-9702-D535AF32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OPERATING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79F21-85B1-4FCF-B524-1BC213C9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</a:defRPr>
            </a:pPr>
            <a:r>
              <a:rPr sz="3750" b="1">
                <a:solidFill>
                  <a:srgbClr val="F8FAFC"/>
                </a:solidFill>
              </a:rPr>
              <a:t>One product, three review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A77AE-9EDB-486A-942E-235A130D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7C7"/>
                </a:solidFill>
              </a:defRPr>
            </a:pPr>
            <a:r>
              <a:rPr sz="1575" b="0">
                <a:solidFill>
                  <a:srgbClr val="AAB7C7"/>
                </a:solidFill>
              </a:rPr>
              <a:t>This extra slide connects the pieces: live demo, offline replay, and exportable batch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71150-6E29-48F6-935D-33F8570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BDD13-C5DB-42D3-A199-97F99941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7E8F9"/>
                </a:solidFill>
              </a:defRPr>
            </a:pPr>
            <a:r>
              <a:rPr sz="2175" b="1">
                <a:solidFill>
                  <a:srgbClr val="67E8F9"/>
                </a:solidFill>
              </a:rPr>
              <a:t>Live V13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EC53D-9597-4D13-BECC-C8E21487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Real-time YOLO production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0BEB1-D877-4ECC-933B-8759F8FC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7"/>
                </a:solidFill>
              </a:defRPr>
            </a:pPr>
            <a:r>
              <a:rPr sz="1350" b="0">
                <a:solidFill>
                  <a:srgbClr val="AAB7C7"/>
                </a:solidFill>
              </a:rPr>
              <a:t>Best for demos and immediate feedback. Rejects hand-only and background candidates.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D0D9E-335B-46B8-8171-F8E65FCD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0B746-6C86-4497-A3F0-669C6069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7E8F9"/>
                </a:solidFill>
              </a:defRPr>
            </a:pPr>
            <a:r>
              <a:rPr sz="2175" b="1">
                <a:solidFill>
                  <a:srgbClr val="67E8F9"/>
                </a:solidFill>
              </a:rPr>
              <a:t>Offline YOLO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B228E-F215-44D5-8596-94CDC0B0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Upload / process / play / download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7B75B-1F5A-4EE0-9B69-2F01B030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481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7"/>
                </a:solidFill>
              </a:defRPr>
            </a:pPr>
            <a:r>
              <a:rPr sz="1350" b="0">
                <a:solidFill>
                  <a:srgbClr val="AAB7C7"/>
                </a:solidFill>
              </a:rPr>
              <a:t>Best for inspection. Uses stricter offline scoring and produces annotated MP4/WebM/CSV/JSON.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818CB-9CCA-41DB-83C9-97789B3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8FA37-E46A-4E40-B282-976B3D0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ACC15"/>
                </a:solidFill>
              </a:defRPr>
            </a:pPr>
            <a:r>
              <a:rPr sz="2175" b="1">
                <a:solidFill>
                  <a:srgbClr val="FACC15"/>
                </a:solidFill>
              </a:rPr>
              <a:t>Future depth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3BD5A-F75A-4876-9721-4920461A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RealSense D455 support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0ACB6-626C-4CB2-B370-E6CADAF7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7"/>
                </a:solidFill>
              </a:defRPr>
            </a:pPr>
            <a:r>
              <a:rPr sz="1350" b="0">
                <a:solidFill>
                  <a:srgbClr val="AAB7C7"/>
                </a:solidFill>
              </a:rPr>
              <a:t>Depth can separate hand, object, table, and background better than RGB alone.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D9959-A46A-4C1C-9A5B-D60A3357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A"/>
                </a:solidFill>
              </a:defRPr>
            </a:pPr>
            <a:r>
              <a:rPr sz="975" b="0">
                <a:solidFill>
                  <a:srgbClr val="7890AA"/>
                </a:solidFill>
              </a:rPr>
              <a:t>GripSense RGB / 3</a:t>
            </a:r>
          </a:p>
        </p:txBody>
      </p:sp>
    </p:spTree>
    <p:extLst>
      <p:ext uri="{BB962C8B-B14F-4D97-AF65-F5344CB8AC3E}">
        <p14:creationId xmlns:p14="http://schemas.microsoft.com/office/powerpoint/2010/main" val="281235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8564A-8FAC-419B-9C35-63D21755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WHERE IT FAILS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12101-4B3C-4897-AEE9-A5C6CDF0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</a:defRPr>
            </a:pPr>
            <a:r>
              <a:rPr sz="3750" b="1">
                <a:solidFill>
                  <a:srgbClr val="F8FAFC"/>
                </a:solidFill>
              </a:rPr>
              <a:t>Known 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60E41-41C4-4C38-B8F2-41B6794E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7C7"/>
                </a:solidFill>
              </a:defRPr>
            </a:pPr>
            <a:r>
              <a:rPr sz="1575" b="0">
                <a:solidFill>
                  <a:srgbClr val="AAB7C7"/>
                </a:solidFill>
              </a:rPr>
              <a:t>The current algorithm is useful, but it still needs guardrails for hard demo conditions.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36F02-6E5D-4966-905B-797BEED5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3238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B3DA2-F2C0-4079-A6DF-3C50B27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7185"/>
                </a:solidFill>
              </a:defRPr>
            </a:pPr>
            <a:r>
              <a:rPr sz="1800" b="1">
                <a:solidFill>
                  <a:srgbClr val="FB7185"/>
                </a:solidFill>
              </a:rPr>
              <a:t>Detector flicker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9E9E4-68B4-4253-8AD7-A6628F82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Object appears for one frame, disappears in the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9BD4A-4002-42A6-A8D0-6B7D0783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3238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26597-6755-410C-AF17-46A554BF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923C"/>
                </a:solidFill>
              </a:defRPr>
            </a:pPr>
            <a:r>
              <a:rPr sz="1800" b="1">
                <a:solidFill>
                  <a:srgbClr val="FB923C"/>
                </a:solidFill>
              </a:rPr>
              <a:t>Occlusion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9359E-F879-498E-9177-8EDF9F35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The hand hides the object, so the detector thinks it is gone.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79F20-B115-41DD-9A74-84C94EA7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3238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FE894-A04A-43D2-B6D3-3DC6FE2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CC15"/>
                </a:solidFill>
              </a:defRPr>
            </a:pPr>
            <a:r>
              <a:rPr sz="1800" b="1">
                <a:solidFill>
                  <a:srgbClr val="FACC15"/>
                </a:solidFill>
              </a:rPr>
              <a:t>Background 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59A8C-CC54-4ABE-B56B-DA54823F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Tables, cubicle panels, and square wall sections can look object-like.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D07DA-BE68-4665-8E39-B20F2160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3238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DBC1F-00E1-4C6D-BFA6-0993A4CC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7185"/>
                </a:solidFill>
              </a:defRPr>
            </a:pPr>
            <a:r>
              <a:rPr sz="1800" b="1">
                <a:solidFill>
                  <a:srgbClr val="FB7185"/>
                </a:solidFill>
              </a:rPr>
              <a:t>Fast 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B6434-A61D-4514-92D2-FE9197EE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Motion blur breaks object and hand landmark alignment.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E67B3-6F31-4F47-82A6-F4A84593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3238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2162A-321B-4428-A122-1AB783E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923C"/>
                </a:solidFill>
              </a:defRPr>
            </a:pPr>
            <a:r>
              <a:rPr sz="1800" b="1">
                <a:solidFill>
                  <a:srgbClr val="FB923C"/>
                </a:solidFill>
              </a:rPr>
              <a:t>Angle sensitivity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5A0E8-2D5F-4E1C-B6CF-3442A682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Thin side views of phones/cans are harder to detect.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A5A32-7C0B-4A18-A1E2-1BDA1DC3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24300"/>
            <a:ext cx="3238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13457-B0D3-462A-BE58-7A995E09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33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CC15"/>
                </a:solidFill>
              </a:defRPr>
            </a:pPr>
            <a:r>
              <a:rPr sz="1800" b="1">
                <a:solidFill>
                  <a:srgbClr val="FACC15"/>
                </a:solidFill>
              </a:rPr>
              <a:t>RGB ambiguity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BA441-7D9F-47AF-8CC1-D8FBAB98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Without depth, contact is inferred from 2D overlap.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7F4AA-2591-4982-98A4-55ABA84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A"/>
                </a:solidFill>
              </a:defRPr>
            </a:pPr>
            <a:r>
              <a:rPr sz="975" b="0">
                <a:solidFill>
                  <a:srgbClr val="7890AA"/>
                </a:solidFill>
              </a:rPr>
              <a:t>GripSense RGB / 4</a:t>
            </a:r>
          </a:p>
        </p:txBody>
      </p:sp>
    </p:spTree>
    <p:extLst>
      <p:ext uri="{BB962C8B-B14F-4D97-AF65-F5344CB8AC3E}">
        <p14:creationId xmlns:p14="http://schemas.microsoft.com/office/powerpoint/2010/main" val="1742651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3F0A9-438B-43ED-AC21-4B7C60B9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FUTURE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7293E-DDB3-48A7-95FF-A23AFA78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</a:defRPr>
            </a:pPr>
            <a:r>
              <a:rPr sz="3750" b="1">
                <a:solidFill>
                  <a:srgbClr val="F8FAFC"/>
                </a:solidFill>
              </a:rPr>
              <a:t>How we make it production-ready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58559-97A2-4C8A-99A8-56C21A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7C7"/>
                </a:solidFill>
              </a:defRPr>
            </a:pPr>
            <a:r>
              <a:rPr sz="1575" b="0">
                <a:solidFill>
                  <a:srgbClr val="AAB7C7"/>
                </a:solidFill>
              </a:rPr>
              <a:t>The next improvements should make the model less jumpy, more honest, and easier to 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CD083-3B09-4B1B-A6FD-714E17C6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4834890" cy="370332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0A1523"/>
          </a:solidFill>
          <a:ln xmlns:a="http://schemas.openxmlformats.org/drawingml/2006/main" w="11430">
            <a:solidFill>
              <a:srgbClr val="2634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100D2-A553-4E3D-8F6B-85F72A82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53640"/>
            <a:ext cx="4423410" cy="329184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1826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AFAD4-A50A-4899-AB1C-3802D72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" y="2885694"/>
            <a:ext cx="1357884" cy="123444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B718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3ABF4-4009-4006-A9F4-1A1D135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35452"/>
            <a:ext cx="1213866" cy="473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34" b="1">
                <a:solidFill>
                  <a:srgbClr val="FB7185"/>
                </a:solidFill>
              </a:defRPr>
            </a:pPr>
            <a:r>
              <a:rPr sz="1134" b="1">
                <a:solidFill>
                  <a:srgbClr val="FB7185"/>
                </a:solidFill>
              </a:rPr>
              <a:t>rejected</a:t>
            </a:r>
          </a:p>
          <a:p xmlns:a="http://schemas.openxmlformats.org/drawingml/2006/main">
            <a:pPr algn="ctr">
              <a:defRPr sz="1134" b="1">
                <a:solidFill>
                  <a:srgbClr val="FB7185"/>
                </a:solidFill>
              </a:defRPr>
            </a:pPr>
            <a:r>
              <a:rPr sz="1134" b="1">
                <a:solidFill>
                  <a:srgbClr val="FB7185"/>
                </a:solidFill>
              </a:rPr>
              <a:t>background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785E8-0F28-4CBA-AFD4-296C8E31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205" y="3029712"/>
            <a:ext cx="1213866" cy="2160270"/>
          </a:xfrm>
          <a:prstGeom xmlns:a="http://schemas.openxmlformats.org/drawingml/2006/main" prst="roundRect">
            <a:avLst>
              <a:gd name="adj" fmla="val 9416"/>
            </a:avLst>
          </a:prstGeom>
          <a:solidFill xmlns:a="http://schemas.openxmlformats.org/drawingml/2006/main">
            <a:srgbClr val="242B36"/>
          </a:solidFill>
          <a:ln xmlns:a="http://schemas.openxmlformats.org/drawingml/2006/main" w="28575">
            <a:solidFill>
              <a:srgbClr val="0F17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B43FF-4788-459A-8883-390A3EC3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586" y="2844546"/>
            <a:ext cx="1954530" cy="2654046"/>
          </a:xfrm>
          <a:prstGeom xmlns:a="http://schemas.openxmlformats.org/drawingml/2006/main" prst="ellipse">
            <a:avLst/>
          </a:prstGeom>
          <a:ln xmlns:a="http://schemas.openxmlformats.org/drawingml/2006/main" w="38100">
            <a:solidFill>
              <a:srgbClr val="4ADE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11622-CDD6-42BB-A112-7876A32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990" y="4901946"/>
            <a:ext cx="-473202" cy="-72009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E34BC-513C-46A2-89E7-8DAEB2D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788" y="4181856"/>
            <a:ext cx="-144018" cy="-596646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7DC67-7C24-4123-8EF9-444583D2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585210"/>
            <a:ext cx="462915" cy="678942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66BF1-78F7-4153-BC7C-DF7C3DB3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685" y="4264152"/>
            <a:ext cx="411480" cy="-606933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C68AD-80CF-4CBA-B1B1-562BCD90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165" y="3657219"/>
            <a:ext cx="-174879" cy="792099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FA7F2-6B83-4714-9AC9-FD00B12F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286" y="4449318"/>
            <a:ext cx="617220" cy="-483489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BEA34-4408-4524-AA0A-DA5179EE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506" y="3965829"/>
            <a:ext cx="-473202" cy="678942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B3A25-F4F5-479F-AFD1-463DEACC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4644771"/>
            <a:ext cx="720090" cy="-72009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09E92-1C98-4E3D-9827-93BC57B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394" y="4572762"/>
            <a:ext cx="-576072" cy="349758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59442-FC15-4B9B-998D-ECD70FDE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322" y="4922520"/>
            <a:ext cx="493776" cy="32918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F6C22-7ACD-4BEC-81D1-77896216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098" y="5251704"/>
            <a:ext cx="-864108" cy="-349758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67E8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C9C76-7A8C-42DB-899D-854DB177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981" y="4829937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F0B81-91D0-4B05-BC7E-DAB2E16A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779" y="4109847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02A62-49A1-49EE-91FE-0A3AE395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761" y="3513201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97A7E-8A96-41D8-88A6-49A075F3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676" y="4192143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A36A7-BC0E-4DA8-8796-2AD6ECE2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156" y="3585210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E6702-67D1-42DB-B346-27D2647B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277" y="4377309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C5793-E92D-4B12-97D0-047A5904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97" y="3893820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1293BB-4999-4C52-B70D-8004A22C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295" y="4572762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0C048-58C4-4F99-921E-93DB2E92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385" y="4500753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879FC0-7FCF-429D-9A2B-5C317C20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313" y="4850511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1C2085-C2DC-46C4-9D7E-89E843B3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089" y="5179695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A4F60C-AD16-4655-924B-E48E025D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981" y="4829937"/>
            <a:ext cx="144018" cy="144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F6BF"/>
          </a:solidFill>
          <a:ln xmlns:a="http://schemas.openxmlformats.org/drawingml/2006/main" w="0">
            <a:solidFill>
              <a:srgbClr val="9AF6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1314AB-4784-4BDC-BA44-4F52F039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748" y="4449318"/>
            <a:ext cx="349758" cy="349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FACC1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C722D4-5C71-4EFD-BA7B-BC6F75EB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228" y="4490466"/>
            <a:ext cx="74066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3" b="1">
                <a:solidFill>
                  <a:srgbClr val="FACC15"/>
                </a:solidFill>
              </a:defRPr>
            </a:pPr>
            <a:r>
              <a:rPr sz="1053" b="1">
                <a:solidFill>
                  <a:srgbClr val="FACC15"/>
                </a:solidFill>
              </a:rPr>
              <a:t>contact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9593C4-1A74-4DA1-B35A-0354498E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561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404398-6343-4609-9225-79FE187C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384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DE80"/>
                </a:solidFill>
              </a:defRPr>
            </a:pPr>
            <a:r>
              <a:rPr sz="1650" b="1">
                <a:solidFill>
                  <a:srgbClr val="4ADE80"/>
                </a:solidFill>
              </a:rPr>
              <a:t>Short-term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F04F09-8E10-47C5-8D65-54B8C99C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V13 gating: reject background panels/tables, smooth visual lock, and decay quickly on real drops.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970B3A-C6AF-4073-90A3-2A054442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561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EAF124-87C2-495F-AF7A-C7BF7C5B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E8F9"/>
                </a:solidFill>
              </a:defRPr>
            </a:pPr>
            <a:r>
              <a:rPr sz="1650" b="1">
                <a:solidFill>
                  <a:srgbClr val="67E8F9"/>
                </a:solidFill>
              </a:rPr>
              <a:t>Offline parity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A84397-AE2D-442F-B964-9088D194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Make web YOLO Max call the same batch renderer used in the process folder.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57E8CE-DB18-4B89-9395-F2F8FDB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48150"/>
            <a:ext cx="561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1B4540-ED38-4B8E-B1D7-59B1CA05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196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ACC15"/>
                </a:solidFill>
              </a:defRPr>
            </a:pPr>
            <a:r>
              <a:rPr sz="1650" b="1">
                <a:solidFill>
                  <a:srgbClr val="FACC15"/>
                </a:solidFill>
              </a:rPr>
              <a:t>Model tuning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11FA08-13C7-48D4-A377-F089DF29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Collect object profiles and fine-tune detector classes for demo objects like cans and phones.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EE3281-BA43-46F7-8BE0-66734B35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0"/>
            <a:ext cx="561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11430">
            <a:solidFill>
              <a:srgbClr val="2D3A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AE3D43-C794-4460-BC2B-A43BB7A3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102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923C"/>
                </a:solidFill>
              </a:defRPr>
            </a:pPr>
            <a:r>
              <a:rPr sz="1650" b="1">
                <a:solidFill>
                  <a:srgbClr val="FB923C"/>
                </a:solidFill>
              </a:rPr>
              <a:t>Depth upgrade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E7EE59-036B-4147-88E0-1C8E8064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911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C7"/>
                </a:solidFill>
              </a:defRPr>
            </a:pPr>
            <a:r>
              <a:rPr sz="1275" b="0">
                <a:solidFill>
                  <a:srgbClr val="AAB7C7"/>
                </a:solidFill>
              </a:rPr>
              <a:t>Use RealSense depth to verify object is between palm/fingers, not behind or on the table.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A0B912-1011-4324-9DB1-3DBAAB83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1725"/>
          </a:solidFill>
          <a:ln xmlns:a="http://schemas.openxmlformats.org/drawingml/2006/main" w="11430">
            <a:solidFill>
              <a:srgbClr val="FB718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488BB4-7BA7-444B-A823-38EEE7EC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054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B7185"/>
                </a:solidFill>
              </a:defRPr>
            </a:pPr>
            <a:r>
              <a:rPr sz="1125" b="1">
                <a:solidFill>
                  <a:srgbClr val="FB7185"/>
                </a:solidFill>
              </a:rPr>
              <a:t>No object = no grip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EAD0B7-4C86-4F8B-ACEC-6CB4B682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38800"/>
            <a:ext cx="1238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1725"/>
          </a:solidFill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65AC68-2E46-4205-97B2-A0E7B109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054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ADE80"/>
                </a:solidFill>
              </a:defRPr>
            </a:pPr>
            <a:r>
              <a:rPr sz="1125" b="1">
                <a:solidFill>
                  <a:srgbClr val="4ADE80"/>
                </a:solidFill>
              </a:rPr>
              <a:t>Stable lock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032141-3D34-466C-8D94-669189A4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638800"/>
            <a:ext cx="1524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D1725"/>
          </a:solidFill>
          <a:ln xmlns:a="http://schemas.openxmlformats.org/drawingml/2006/main" w="11430">
            <a:solidFill>
              <a:srgbClr val="67E8F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9EE22A-0E27-4B76-B1CC-25DA95FF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054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Offline review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6503D4-E270-47D7-9C90-FC9F7197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890AA"/>
                </a:solidFill>
              </a:defRPr>
            </a:pPr>
            <a:r>
              <a:rPr sz="975" b="0">
                <a:solidFill>
                  <a:srgbClr val="7890AA"/>
                </a:solidFill>
              </a:rPr>
              <a:t>GripSense RGB / 5</a:t>
            </a:r>
          </a:p>
        </p:txBody>
      </p:sp>
    </p:spTree>
    <p:extLst>
      <p:ext uri="{BB962C8B-B14F-4D97-AF65-F5344CB8AC3E}">
        <p14:creationId xmlns:p14="http://schemas.microsoft.com/office/powerpoint/2010/main" val="14364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2026-07-01T01:18:18.4850000Z</dcterms:created>
  <dcterms:modified xsi:type="dcterms:W3CDTF">2026-07-01T01:18:18.4850000Z</dcterms:modified>
</coreProperties>
</file>